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57" r:id="rId4"/>
    <p:sldId id="270" r:id="rId5"/>
    <p:sldId id="258" r:id="rId6"/>
    <p:sldId id="267" r:id="rId7"/>
    <p:sldId id="269" r:id="rId8"/>
    <p:sldId id="268" r:id="rId9"/>
    <p:sldId id="259" r:id="rId10"/>
    <p:sldId id="260" r:id="rId11"/>
    <p:sldId id="261" r:id="rId12"/>
    <p:sldId id="262" r:id="rId13"/>
    <p:sldId id="263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1685" y="5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36A62-2A6A-4E94-88C9-A0FA4846BA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E21AE-7EC7-4972-B19D-26135ED1E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4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E21AE-7EC7-4972-B19D-26135ED1E06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97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B355-310A-9116-66DC-9C2C537A2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1265A-7C7B-E2F9-79CD-D9A497C2B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A1492-C008-E774-9558-A5F6A330C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1F956-D58A-2F83-24CD-1B689A924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E21AE-7EC7-4972-B19D-26135ED1E0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5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E21AE-7EC7-4972-B19D-26135ED1E06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89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D76BB78-CECB-9144-148E-2C896677436F}"/>
              </a:ext>
            </a:extLst>
          </p:cNvPr>
          <p:cNvGrpSpPr/>
          <p:nvPr/>
        </p:nvGrpSpPr>
        <p:grpSpPr>
          <a:xfrm>
            <a:off x="7406640" y="-6972300"/>
            <a:ext cx="3977639" cy="5074920"/>
            <a:chOff x="7406640" y="868680"/>
            <a:chExt cx="3977639" cy="5074920"/>
          </a:xfrm>
        </p:grpSpPr>
        <p:sp>
          <p:nvSpPr>
            <p:cNvPr id="6" name="Rounded Rectangle 5"/>
            <p:cNvSpPr/>
            <p:nvPr/>
          </p:nvSpPr>
          <p:spPr>
            <a:xfrm>
              <a:off x="7406640" y="868680"/>
              <a:ext cx="3977639" cy="5074920"/>
            </a:xfrm>
            <a:prstGeom prst="roundRect">
              <a:avLst/>
            </a:prstGeom>
            <a:solidFill>
              <a:srgbClr val="222834"/>
            </a:solidFill>
            <a:ln w="15240">
              <a:solidFill>
                <a:srgbClr val="FFD6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26679" y="1097280"/>
              <a:ext cx="338328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700" b="1">
                  <a:solidFill>
                    <a:srgbClr val="FFD666"/>
                  </a:solidFill>
                  <a:latin typeface="Aptos"/>
                </a:rPr>
                <a:t>Highlights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26679" y="1508760"/>
              <a:ext cx="3200400" cy="2194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500">
                  <a:solidFill>
                    <a:srgbClr val="F3F5F7"/>
                  </a:solidFill>
                  <a:latin typeface="Aptos"/>
                </a:defRPr>
              </a:pPr>
              <a:r>
                <a:t>• Phục vụ khách dưới áp lực thời gian</a:t>
              </a:r>
            </a:p>
            <a:p>
              <a:pPr>
                <a:spcAft>
                  <a:spcPts val="600"/>
                </a:spcAft>
                <a:defRPr sz="1500">
                  <a:solidFill>
                    <a:srgbClr val="F3F5F7"/>
                  </a:solidFill>
                  <a:latin typeface="Aptos"/>
                </a:defRPr>
              </a:pPr>
              <a:r>
                <a:t>• Pha đồ uống bằng kéo-thả + lắc shaker</a:t>
              </a:r>
            </a:p>
            <a:p>
              <a:pPr>
                <a:spcAft>
                  <a:spcPts val="600"/>
                </a:spcAft>
                <a:defRPr sz="1500">
                  <a:solidFill>
                    <a:srgbClr val="F3F5F7"/>
                  </a:solidFill>
                  <a:latin typeface="Aptos"/>
                </a:defRPr>
              </a:pPr>
              <a:r>
                <a:t>• Đọc vị khách qua mood dialogue</a:t>
              </a:r>
            </a:p>
            <a:p>
              <a:pPr>
                <a:spcAft>
                  <a:spcPts val="600"/>
                </a:spcAft>
                <a:defRPr sz="1500">
                  <a:solidFill>
                    <a:srgbClr val="F3F5F7"/>
                  </a:solidFill>
                  <a:latin typeface="Aptos"/>
                </a:defRPr>
              </a:pPr>
              <a:r>
                <a:t>• Search recipe bằng autocomplete</a:t>
              </a:r>
            </a:p>
            <a:p>
              <a:pPr>
                <a:spcAft>
                  <a:spcPts val="600"/>
                </a:spcAft>
                <a:defRPr sz="1500">
                  <a:solidFill>
                    <a:srgbClr val="F3F5F7"/>
                  </a:solidFill>
                  <a:latin typeface="Aptos"/>
                </a:defRPr>
              </a:pPr>
              <a:r>
                <a:t>• Chấm điểm theo độ chính xác công thức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F14B4E2-73CA-4A19-6FD9-0FD274669E96}"/>
              </a:ext>
            </a:extLst>
          </p:cNvPr>
          <p:cNvGrpSpPr/>
          <p:nvPr/>
        </p:nvGrpSpPr>
        <p:grpSpPr>
          <a:xfrm>
            <a:off x="12213474" y="3703320"/>
            <a:ext cx="3154680" cy="384048"/>
            <a:chOff x="7726679" y="3703320"/>
            <a:chExt cx="3154680" cy="384048"/>
          </a:xfrm>
        </p:grpSpPr>
        <p:sp>
          <p:nvSpPr>
            <p:cNvPr id="9" name="Rounded Rectangle 8"/>
            <p:cNvSpPr/>
            <p:nvPr/>
          </p:nvSpPr>
          <p:spPr>
            <a:xfrm>
              <a:off x="7726679" y="3703320"/>
              <a:ext cx="3154680" cy="384048"/>
            </a:xfrm>
            <a:prstGeom prst="roundRect">
              <a:avLst/>
            </a:prstGeom>
            <a:solidFill>
              <a:srgbClr val="2C3240"/>
            </a:solidFill>
            <a:ln w="15240">
              <a:solidFill>
                <a:srgbClr val="5EA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45552" y="3730752"/>
              <a:ext cx="109728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>
                  <a:solidFill>
                    <a:srgbClr val="5EA8FF"/>
                  </a:solidFill>
                  <a:latin typeface="Aptos"/>
                </a:rPr>
                <a:t>Khách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796528" y="3730752"/>
              <a:ext cx="192024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50" b="0">
                  <a:solidFill>
                    <a:srgbClr val="F3F5F7"/>
                  </a:solidFill>
                  <a:latin typeface="Aptos"/>
                </a:rPr>
                <a:t>Ngồi / chờ / timeout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FA7D66-9FBC-48C1-AD75-8965E27E9C94}"/>
              </a:ext>
            </a:extLst>
          </p:cNvPr>
          <p:cNvGrpSpPr/>
          <p:nvPr/>
        </p:nvGrpSpPr>
        <p:grpSpPr>
          <a:xfrm>
            <a:off x="14328926" y="4160520"/>
            <a:ext cx="3154680" cy="384048"/>
            <a:chOff x="7726679" y="4160520"/>
            <a:chExt cx="3154680" cy="384048"/>
          </a:xfrm>
        </p:grpSpPr>
        <p:sp>
          <p:nvSpPr>
            <p:cNvPr id="12" name="Rounded Rectangle 11"/>
            <p:cNvSpPr/>
            <p:nvPr/>
          </p:nvSpPr>
          <p:spPr>
            <a:xfrm>
              <a:off x="7726679" y="4160520"/>
              <a:ext cx="3154680" cy="384048"/>
            </a:xfrm>
            <a:prstGeom prst="roundRect">
              <a:avLst/>
            </a:prstGeom>
            <a:solidFill>
              <a:srgbClr val="2C3240"/>
            </a:solidFill>
            <a:ln w="15240">
              <a:solidFill>
                <a:srgbClr val="63E6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45552" y="4187952"/>
              <a:ext cx="109728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>
                  <a:solidFill>
                    <a:srgbClr val="63E6BE"/>
                  </a:solidFill>
                  <a:latin typeface="Aptos"/>
                </a:rPr>
                <a:t>Pha chế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796528" y="4187952"/>
              <a:ext cx="192024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50" b="0">
                  <a:solidFill>
                    <a:srgbClr val="F3F5F7"/>
                  </a:solidFill>
                  <a:latin typeface="Aptos"/>
                </a:rPr>
                <a:t>Rót, lắc, serve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DB710A-25B1-07CB-E808-B7B43F097FC8}"/>
              </a:ext>
            </a:extLst>
          </p:cNvPr>
          <p:cNvGrpSpPr/>
          <p:nvPr/>
        </p:nvGrpSpPr>
        <p:grpSpPr>
          <a:xfrm>
            <a:off x="15578607" y="4617720"/>
            <a:ext cx="3154680" cy="384048"/>
            <a:chOff x="7726679" y="4617720"/>
            <a:chExt cx="3154680" cy="384048"/>
          </a:xfrm>
        </p:grpSpPr>
        <p:sp>
          <p:nvSpPr>
            <p:cNvPr id="15" name="Rounded Rectangle 14"/>
            <p:cNvSpPr/>
            <p:nvPr/>
          </p:nvSpPr>
          <p:spPr>
            <a:xfrm>
              <a:off x="7726679" y="4617720"/>
              <a:ext cx="3154680" cy="384048"/>
            </a:xfrm>
            <a:prstGeom prst="roundRect">
              <a:avLst/>
            </a:prstGeom>
            <a:solidFill>
              <a:srgbClr val="2C3240"/>
            </a:solidFill>
            <a:ln w="15240">
              <a:solidFill>
                <a:srgbClr val="FFD6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45552" y="4645152"/>
              <a:ext cx="109728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 dirty="0">
                  <a:solidFill>
                    <a:srgbClr val="FFD666"/>
                  </a:solidFill>
                  <a:latin typeface="Aptos"/>
                </a:rPr>
                <a:t>Algorithm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96528" y="4645152"/>
              <a:ext cx="192024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50" b="0" dirty="0">
                  <a:solidFill>
                    <a:srgbClr val="F3F5F7"/>
                  </a:solidFill>
                  <a:latin typeface="Aptos"/>
                </a:rPr>
                <a:t>Gameplay </a:t>
              </a:r>
              <a:r>
                <a:rPr sz="1150" b="0" dirty="0" err="1">
                  <a:solidFill>
                    <a:srgbClr val="F3F5F7"/>
                  </a:solidFill>
                  <a:latin typeface="Aptos"/>
                </a:rPr>
                <a:t>gắn</a:t>
              </a:r>
              <a:r>
                <a:rPr sz="1150" b="0" dirty="0">
                  <a:solidFill>
                    <a:srgbClr val="F3F5F7"/>
                  </a:solidFill>
                  <a:latin typeface="Aptos"/>
                </a:rPr>
                <a:t> </a:t>
              </a:r>
              <a:r>
                <a:rPr sz="1150" b="0" dirty="0" err="1">
                  <a:solidFill>
                    <a:srgbClr val="F3F5F7"/>
                  </a:solidFill>
                  <a:latin typeface="Aptos"/>
                </a:rPr>
                <a:t>với</a:t>
              </a:r>
              <a:r>
                <a:rPr sz="1150" b="0" dirty="0">
                  <a:solidFill>
                    <a:srgbClr val="F3F5F7"/>
                  </a:solidFill>
                  <a:latin typeface="Aptos"/>
                </a:rPr>
                <a:t> DSA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7D2330-5CB0-19B2-8795-4EFB130AD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57304" y="2322897"/>
            <a:ext cx="5693664" cy="31814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C12FB-B1B8-5D3B-F0DC-F91A49B8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9EFFFB-4C03-99B7-A1DA-F600413AAB2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52087DB-9641-2011-75AD-624F506E7330}"/>
              </a:ext>
            </a:extLst>
          </p:cNvPr>
          <p:cNvGrpSpPr/>
          <p:nvPr/>
        </p:nvGrpSpPr>
        <p:grpSpPr>
          <a:xfrm>
            <a:off x="7406640" y="868680"/>
            <a:ext cx="3977639" cy="5074920"/>
            <a:chOff x="7406640" y="868680"/>
            <a:chExt cx="3977639" cy="507492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D4F5793-F833-E895-B589-C23AA17A02E9}"/>
                </a:ext>
              </a:extLst>
            </p:cNvPr>
            <p:cNvSpPr/>
            <p:nvPr/>
          </p:nvSpPr>
          <p:spPr>
            <a:xfrm>
              <a:off x="7406640" y="868680"/>
              <a:ext cx="3977639" cy="5074920"/>
            </a:xfrm>
            <a:prstGeom prst="roundRect">
              <a:avLst/>
            </a:prstGeom>
            <a:solidFill>
              <a:srgbClr val="222834"/>
            </a:solidFill>
            <a:ln w="15240">
              <a:solidFill>
                <a:srgbClr val="FFD6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38B35C-1609-040E-83C4-2BEF7733EDE9}"/>
                </a:ext>
              </a:extLst>
            </p:cNvPr>
            <p:cNvSpPr txBox="1"/>
            <p:nvPr/>
          </p:nvSpPr>
          <p:spPr>
            <a:xfrm>
              <a:off x="7726679" y="1097280"/>
              <a:ext cx="3383280" cy="32004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700" b="1">
                  <a:solidFill>
                    <a:srgbClr val="FFD666"/>
                  </a:solidFill>
                  <a:latin typeface="Aptos"/>
                </a:rPr>
                <a:t>Highlights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CAF1EA6-DEE7-DCE1-7E6F-AD648D2BB468}"/>
                </a:ext>
              </a:extLst>
            </p:cNvPr>
            <p:cNvSpPr txBox="1"/>
            <p:nvPr/>
          </p:nvSpPr>
          <p:spPr>
            <a:xfrm>
              <a:off x="7726679" y="1508760"/>
              <a:ext cx="3200400" cy="2194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defRPr sz="1500">
                  <a:solidFill>
                    <a:srgbClr val="F3F5F7"/>
                  </a:solidFill>
                  <a:latin typeface="Aptos"/>
                </a:defRPr>
              </a:pPr>
              <a:r>
                <a:t>• Phục vụ khách dưới áp lực thời gian</a:t>
              </a:r>
            </a:p>
            <a:p>
              <a:pPr>
                <a:spcAft>
                  <a:spcPts val="600"/>
                </a:spcAft>
                <a:defRPr sz="1500">
                  <a:solidFill>
                    <a:srgbClr val="F3F5F7"/>
                  </a:solidFill>
                  <a:latin typeface="Aptos"/>
                </a:defRPr>
              </a:pPr>
              <a:r>
                <a:t>• Pha đồ uống bằng kéo-thả + lắc shaker</a:t>
              </a:r>
            </a:p>
            <a:p>
              <a:pPr>
                <a:spcAft>
                  <a:spcPts val="600"/>
                </a:spcAft>
                <a:defRPr sz="1500">
                  <a:solidFill>
                    <a:srgbClr val="F3F5F7"/>
                  </a:solidFill>
                  <a:latin typeface="Aptos"/>
                </a:defRPr>
              </a:pPr>
              <a:r>
                <a:t>• Đọc vị khách qua mood dialogue</a:t>
              </a:r>
            </a:p>
            <a:p>
              <a:pPr>
                <a:spcAft>
                  <a:spcPts val="600"/>
                </a:spcAft>
                <a:defRPr sz="1500">
                  <a:solidFill>
                    <a:srgbClr val="F3F5F7"/>
                  </a:solidFill>
                  <a:latin typeface="Aptos"/>
                </a:defRPr>
              </a:pPr>
              <a:r>
                <a:t>• Search recipe bằng autocomplete</a:t>
              </a:r>
            </a:p>
            <a:p>
              <a:pPr>
                <a:spcAft>
                  <a:spcPts val="600"/>
                </a:spcAft>
                <a:defRPr sz="1500">
                  <a:solidFill>
                    <a:srgbClr val="F3F5F7"/>
                  </a:solidFill>
                  <a:latin typeface="Aptos"/>
                </a:defRPr>
              </a:pPr>
              <a:r>
                <a:t>• Chấm điểm theo độ chính xác công thức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D7BFCBF-20FC-8283-2D3D-C2657CFF4FBC}"/>
              </a:ext>
            </a:extLst>
          </p:cNvPr>
          <p:cNvGrpSpPr/>
          <p:nvPr/>
        </p:nvGrpSpPr>
        <p:grpSpPr>
          <a:xfrm>
            <a:off x="7726679" y="3703320"/>
            <a:ext cx="3154680" cy="384048"/>
            <a:chOff x="7726679" y="3703320"/>
            <a:chExt cx="3154680" cy="384048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76AA4B9-B483-5D5E-C6CD-5B0EF711FF5C}"/>
                </a:ext>
              </a:extLst>
            </p:cNvPr>
            <p:cNvSpPr/>
            <p:nvPr/>
          </p:nvSpPr>
          <p:spPr>
            <a:xfrm>
              <a:off x="7726679" y="3703320"/>
              <a:ext cx="3154680" cy="384048"/>
            </a:xfrm>
            <a:prstGeom prst="roundRect">
              <a:avLst/>
            </a:prstGeom>
            <a:solidFill>
              <a:srgbClr val="2C3240"/>
            </a:solidFill>
            <a:ln w="15240">
              <a:solidFill>
                <a:srgbClr val="5EA8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73FD50-3C84-C38C-7DD3-7E387BB37598}"/>
                </a:ext>
              </a:extLst>
            </p:cNvPr>
            <p:cNvSpPr txBox="1"/>
            <p:nvPr/>
          </p:nvSpPr>
          <p:spPr>
            <a:xfrm>
              <a:off x="7845552" y="3761232"/>
              <a:ext cx="109728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 dirty="0" err="1">
                  <a:solidFill>
                    <a:srgbClr val="5EA8FF"/>
                  </a:solidFill>
                  <a:latin typeface="Aptos"/>
                </a:rPr>
                <a:t>Khách</a:t>
              </a:r>
              <a:endParaRPr sz="1200" b="1" dirty="0">
                <a:solidFill>
                  <a:srgbClr val="5EA8FF"/>
                </a:solidFill>
                <a:latin typeface="Apto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B7892D-2675-BAC6-9270-E4CDE193EC03}"/>
                </a:ext>
              </a:extLst>
            </p:cNvPr>
            <p:cNvSpPr txBox="1"/>
            <p:nvPr/>
          </p:nvSpPr>
          <p:spPr>
            <a:xfrm>
              <a:off x="8796528" y="3788664"/>
              <a:ext cx="192024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50" b="0" dirty="0" err="1">
                  <a:solidFill>
                    <a:srgbClr val="F3F5F7"/>
                  </a:solidFill>
                  <a:latin typeface="Aptos"/>
                </a:rPr>
                <a:t>Ngồi</a:t>
              </a:r>
              <a:r>
                <a:rPr sz="1150" b="0" dirty="0">
                  <a:solidFill>
                    <a:srgbClr val="F3F5F7"/>
                  </a:solidFill>
                  <a:latin typeface="Aptos"/>
                </a:rPr>
                <a:t> / </a:t>
              </a:r>
              <a:r>
                <a:rPr sz="1150" b="0" dirty="0" err="1">
                  <a:solidFill>
                    <a:srgbClr val="F3F5F7"/>
                  </a:solidFill>
                  <a:latin typeface="Aptos"/>
                </a:rPr>
                <a:t>chờ</a:t>
              </a:r>
              <a:r>
                <a:rPr sz="1150" b="0" dirty="0">
                  <a:solidFill>
                    <a:srgbClr val="F3F5F7"/>
                  </a:solidFill>
                  <a:latin typeface="Aptos"/>
                </a:rPr>
                <a:t> / timeout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155613-AB25-3234-E576-31251E88EC32}"/>
              </a:ext>
            </a:extLst>
          </p:cNvPr>
          <p:cNvGrpSpPr/>
          <p:nvPr/>
        </p:nvGrpSpPr>
        <p:grpSpPr>
          <a:xfrm>
            <a:off x="7726679" y="4160520"/>
            <a:ext cx="3154680" cy="384048"/>
            <a:chOff x="7726679" y="4160520"/>
            <a:chExt cx="3154680" cy="38404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6CE7C0F-2FEC-2903-79DB-F6B203EAF295}"/>
                </a:ext>
              </a:extLst>
            </p:cNvPr>
            <p:cNvSpPr/>
            <p:nvPr/>
          </p:nvSpPr>
          <p:spPr>
            <a:xfrm>
              <a:off x="7726679" y="4160520"/>
              <a:ext cx="3154680" cy="384048"/>
            </a:xfrm>
            <a:prstGeom prst="roundRect">
              <a:avLst/>
            </a:prstGeom>
            <a:solidFill>
              <a:srgbClr val="2C3240"/>
            </a:solidFill>
            <a:ln w="15240">
              <a:solidFill>
                <a:srgbClr val="63E6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6178066-6A2F-7810-CB60-78B4FC784354}"/>
                </a:ext>
              </a:extLst>
            </p:cNvPr>
            <p:cNvSpPr txBox="1"/>
            <p:nvPr/>
          </p:nvSpPr>
          <p:spPr>
            <a:xfrm>
              <a:off x="7845552" y="4230624"/>
              <a:ext cx="109728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 dirty="0">
                  <a:solidFill>
                    <a:srgbClr val="63E6BE"/>
                  </a:solidFill>
                  <a:latin typeface="Aptos"/>
                </a:rPr>
                <a:t>Pha </a:t>
              </a:r>
              <a:r>
                <a:rPr sz="1200" b="1" dirty="0" err="1">
                  <a:solidFill>
                    <a:srgbClr val="63E6BE"/>
                  </a:solidFill>
                  <a:latin typeface="Aptos"/>
                </a:rPr>
                <a:t>chế</a:t>
              </a:r>
              <a:endParaRPr sz="1200" b="1" dirty="0">
                <a:solidFill>
                  <a:srgbClr val="63E6BE"/>
                </a:solidFill>
                <a:latin typeface="Apto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17F98D-0E85-D6F9-D7BE-9C55C4F6E4F7}"/>
                </a:ext>
              </a:extLst>
            </p:cNvPr>
            <p:cNvSpPr txBox="1"/>
            <p:nvPr/>
          </p:nvSpPr>
          <p:spPr>
            <a:xfrm>
              <a:off x="8796528" y="4230624"/>
              <a:ext cx="192024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50" b="0" dirty="0">
                  <a:solidFill>
                    <a:srgbClr val="F3F5F7"/>
                  </a:solidFill>
                  <a:latin typeface="Aptos"/>
                </a:rPr>
                <a:t>Rót, </a:t>
              </a:r>
              <a:r>
                <a:rPr sz="1150" b="0" dirty="0" err="1">
                  <a:solidFill>
                    <a:srgbClr val="F3F5F7"/>
                  </a:solidFill>
                  <a:latin typeface="Aptos"/>
                </a:rPr>
                <a:t>lắc</a:t>
              </a:r>
              <a:r>
                <a:rPr sz="1150" b="0" dirty="0">
                  <a:solidFill>
                    <a:srgbClr val="F3F5F7"/>
                  </a:solidFill>
                  <a:latin typeface="Aptos"/>
                </a:rPr>
                <a:t>, serve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2F32216-FC35-9AFB-1C78-5BCEF1FDFA6D}"/>
              </a:ext>
            </a:extLst>
          </p:cNvPr>
          <p:cNvGrpSpPr/>
          <p:nvPr/>
        </p:nvGrpSpPr>
        <p:grpSpPr>
          <a:xfrm>
            <a:off x="7726679" y="4617720"/>
            <a:ext cx="3154680" cy="384048"/>
            <a:chOff x="7726679" y="4617720"/>
            <a:chExt cx="3154680" cy="384048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305AFA34-7016-8756-3E09-D9A198243916}"/>
                </a:ext>
              </a:extLst>
            </p:cNvPr>
            <p:cNvSpPr/>
            <p:nvPr/>
          </p:nvSpPr>
          <p:spPr>
            <a:xfrm>
              <a:off x="7726679" y="4617720"/>
              <a:ext cx="3154680" cy="384048"/>
            </a:xfrm>
            <a:prstGeom prst="roundRect">
              <a:avLst/>
            </a:prstGeom>
            <a:solidFill>
              <a:srgbClr val="2C3240"/>
            </a:solidFill>
            <a:ln w="15240">
              <a:solidFill>
                <a:srgbClr val="FFD6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A5C524-D18E-04BB-F6BC-9A1F8170651F}"/>
                </a:ext>
              </a:extLst>
            </p:cNvPr>
            <p:cNvSpPr txBox="1"/>
            <p:nvPr/>
          </p:nvSpPr>
          <p:spPr>
            <a:xfrm>
              <a:off x="7845552" y="4672584"/>
              <a:ext cx="109728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200" b="1" dirty="0">
                  <a:solidFill>
                    <a:srgbClr val="FFD666"/>
                  </a:solidFill>
                  <a:latin typeface="Aptos"/>
                </a:rPr>
                <a:t>Algorithm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EC09AA-981B-E260-7031-6583DE619ACC}"/>
                </a:ext>
              </a:extLst>
            </p:cNvPr>
            <p:cNvSpPr txBox="1"/>
            <p:nvPr/>
          </p:nvSpPr>
          <p:spPr>
            <a:xfrm>
              <a:off x="8796528" y="4672584"/>
              <a:ext cx="1920240" cy="182880"/>
            </a:xfrm>
            <a:prstGeom prst="rect">
              <a:avLst/>
            </a:prstGeom>
            <a:noFill/>
          </p:spPr>
          <p:txBody>
            <a:bodyPr wrap="none" anchor="t">
              <a:spAutoFit/>
            </a:bodyPr>
            <a:lstStyle/>
            <a:p>
              <a:pPr algn="l"/>
              <a:r>
                <a:rPr sz="1150" b="0" dirty="0">
                  <a:solidFill>
                    <a:srgbClr val="F3F5F7"/>
                  </a:solidFill>
                  <a:latin typeface="Aptos"/>
                </a:rPr>
                <a:t>Gameplay </a:t>
              </a:r>
              <a:r>
                <a:rPr sz="1150" b="0" dirty="0" err="1">
                  <a:solidFill>
                    <a:srgbClr val="F3F5F7"/>
                  </a:solidFill>
                  <a:latin typeface="Aptos"/>
                </a:rPr>
                <a:t>gắn</a:t>
              </a:r>
              <a:r>
                <a:rPr sz="1150" b="0" dirty="0">
                  <a:solidFill>
                    <a:srgbClr val="F3F5F7"/>
                  </a:solidFill>
                  <a:latin typeface="Aptos"/>
                </a:rPr>
                <a:t> </a:t>
              </a:r>
              <a:r>
                <a:rPr sz="1150" b="0" dirty="0" err="1">
                  <a:solidFill>
                    <a:srgbClr val="F3F5F7"/>
                  </a:solidFill>
                  <a:latin typeface="Aptos"/>
                </a:rPr>
                <a:t>với</a:t>
              </a:r>
              <a:r>
                <a:rPr sz="1150" b="0" dirty="0">
                  <a:solidFill>
                    <a:srgbClr val="F3F5F7"/>
                  </a:solidFill>
                  <a:latin typeface="Aptos"/>
                </a:rPr>
                <a:t> DSA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8E24CF1-1338-A6DA-5C41-6DE30A65C5E1}"/>
              </a:ext>
            </a:extLst>
          </p:cNvPr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932F4E-B76E-5B3A-B5AC-21CB3DB09936}"/>
              </a:ext>
            </a:extLst>
          </p:cNvPr>
          <p:cNvSpPr txBox="1"/>
          <p:nvPr/>
        </p:nvSpPr>
        <p:spPr>
          <a:xfrm>
            <a:off x="640080" y="822960"/>
            <a:ext cx="68580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F3F5F7"/>
                </a:solidFill>
                <a:latin typeface="Aptos"/>
              </a:rPr>
              <a:t>BAR RUSH:
THE MIXOLOGIST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6B35D6-3453-276A-FAC7-E8387DD03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95465"/>
            <a:ext cx="5693664" cy="318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12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D666"/>
                </a:solidFill>
                <a:latin typeface="Aptos"/>
              </a:rPr>
              <a:t>2. Gameplay loop và bức tranh tổng thể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737360" cy="182880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755648"/>
            <a:ext cx="402336" cy="402336"/>
          </a:xfrm>
          <a:prstGeom prst="ellipse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82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49424"/>
            <a:ext cx="1517904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3F5F7"/>
                </a:solidFill>
                <a:latin typeface="Aptos"/>
              </a:rPr>
              <a:t>Khách xuất hiện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42032"/>
            <a:ext cx="1517904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A8B2C0"/>
                </a:solidFill>
                <a:latin typeface="Aptos"/>
              </a:rPr>
              <a:t>Spawn theo thời gian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1645920"/>
            <a:ext cx="1737360" cy="182880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651760" y="1755648"/>
            <a:ext cx="402336" cy="402336"/>
          </a:xfrm>
          <a:prstGeom prst="ellipse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820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49424"/>
            <a:ext cx="1517904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3F5F7"/>
                </a:solidFill>
                <a:latin typeface="Aptos"/>
              </a:rPr>
              <a:t>Ngồi / xếp hàng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542032"/>
            <a:ext cx="1353312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8B2C0"/>
                </a:solidFill>
                <a:latin typeface="Aptos"/>
              </a:rPr>
              <a:t>Seat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hoặc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chờ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ngoài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cửa</a:t>
            </a:r>
            <a:endParaRPr sz="1150" b="0" dirty="0">
              <a:solidFill>
                <a:srgbClr val="A8B2C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43984" y="1645920"/>
            <a:ext cx="1737360" cy="182880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53712" y="1755648"/>
            <a:ext cx="402336" cy="402336"/>
          </a:xfrm>
          <a:prstGeom prst="ellipse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82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249424"/>
            <a:ext cx="1517904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3F5F7"/>
                </a:solidFill>
                <a:latin typeface="Aptos"/>
              </a:rPr>
              <a:t>Order / Mood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542032"/>
            <a:ext cx="1369568" cy="623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 err="1">
                <a:solidFill>
                  <a:srgbClr val="A8B2C0"/>
                </a:solidFill>
                <a:latin typeface="Aptos"/>
              </a:rPr>
              <a:t>Gọi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món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trực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tiếp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hoặc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mô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tả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cảm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xúc</a:t>
            </a:r>
            <a:endParaRPr sz="1150" b="0" dirty="0">
              <a:solidFill>
                <a:srgbClr val="A8B2C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45936" y="1645920"/>
            <a:ext cx="1737360" cy="182880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55664" y="1755648"/>
            <a:ext cx="402336" cy="402336"/>
          </a:xfrm>
          <a:prstGeom prst="ellipse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820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249424"/>
            <a:ext cx="1517904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3F5F7"/>
                </a:solidFill>
                <a:latin typeface="Aptos"/>
              </a:rPr>
              <a:t>Search recipe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542032"/>
            <a:ext cx="1426464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8B2C0"/>
                </a:solidFill>
                <a:latin typeface="Aptos"/>
              </a:rPr>
              <a:t>Tra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công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thức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thật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nhanh</a:t>
            </a:r>
            <a:endParaRPr sz="1150" b="0" dirty="0">
              <a:solidFill>
                <a:srgbClr val="A8B2C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47888" y="1645920"/>
            <a:ext cx="1737360" cy="182880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57616" y="1755648"/>
            <a:ext cx="402336" cy="402336"/>
          </a:xfrm>
          <a:prstGeom prst="ellipse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820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2249424"/>
            <a:ext cx="1517904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3F5F7"/>
                </a:solidFill>
                <a:latin typeface="Aptos"/>
              </a:rPr>
              <a:t>Mix &amp; Shake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2542032"/>
            <a:ext cx="1353312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8B2C0"/>
                </a:solidFill>
                <a:latin typeface="Aptos"/>
              </a:rPr>
              <a:t>Rót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nguyên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liệu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,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lắc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shaker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1645920"/>
            <a:ext cx="1737360" cy="182880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259568" y="1755648"/>
            <a:ext cx="402336" cy="402336"/>
          </a:xfrm>
          <a:prstGeom prst="ellipse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820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9568" y="2249424"/>
            <a:ext cx="1517904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1">
                <a:solidFill>
                  <a:srgbClr val="F3F5F7"/>
                </a:solidFill>
                <a:latin typeface="Aptos"/>
              </a:rPr>
              <a:t>Serve &amp;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8" y="2542032"/>
            <a:ext cx="1216152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8B2C0"/>
                </a:solidFill>
                <a:latin typeface="Aptos"/>
              </a:rPr>
              <a:t>Phục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vụ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khách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,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tính</a:t>
            </a:r>
            <a:r>
              <a:rPr sz="1150" b="0" dirty="0">
                <a:solidFill>
                  <a:srgbClr val="A8B2C0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A8B2C0"/>
                </a:solidFill>
                <a:latin typeface="Aptos"/>
              </a:rPr>
              <a:t>điểm</a:t>
            </a:r>
            <a:endParaRPr sz="1150" b="0" dirty="0">
              <a:solidFill>
                <a:srgbClr val="A8B2C0"/>
              </a:solidFill>
              <a:latin typeface="Aptos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2377440" y="2560320"/>
            <a:ext cx="164592" cy="0"/>
          </a:xfrm>
          <a:prstGeom prst="line">
            <a:avLst/>
          </a:prstGeom>
          <a:ln w="25400">
            <a:solidFill>
              <a:srgbClr val="A8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279392" y="2560320"/>
            <a:ext cx="164592" cy="0"/>
          </a:xfrm>
          <a:prstGeom prst="line">
            <a:avLst/>
          </a:prstGeom>
          <a:ln w="25400">
            <a:solidFill>
              <a:srgbClr val="A8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181344" y="2560320"/>
            <a:ext cx="164592" cy="0"/>
          </a:xfrm>
          <a:prstGeom prst="line">
            <a:avLst/>
          </a:prstGeom>
          <a:ln w="25400">
            <a:solidFill>
              <a:srgbClr val="A8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83296" y="2560320"/>
            <a:ext cx="164592" cy="0"/>
          </a:xfrm>
          <a:prstGeom prst="line">
            <a:avLst/>
          </a:prstGeom>
          <a:ln w="25400">
            <a:solidFill>
              <a:srgbClr val="A8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85248" y="2560320"/>
            <a:ext cx="164592" cy="0"/>
          </a:xfrm>
          <a:prstGeom prst="line">
            <a:avLst/>
          </a:prstGeom>
          <a:ln w="25400">
            <a:solidFill>
              <a:srgbClr val="A8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8368" y="4023360"/>
            <a:ext cx="10972800" cy="173736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224528"/>
            <a:ext cx="1198277" cy="3539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 dirty="0">
                <a:solidFill>
                  <a:srgbClr val="FFD666"/>
                </a:solidFill>
                <a:latin typeface="Aptos"/>
              </a:rPr>
              <a:t>Algorithm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663440"/>
            <a:ext cx="2971800" cy="310896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4128" y="469087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F3F5F7"/>
                </a:solidFill>
                <a:latin typeface="Aptos"/>
              </a:rPr>
              <a:t>Khách chờ → Queue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4663440"/>
            <a:ext cx="2971800" cy="310896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BA6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53128" y="469087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F3F5F7"/>
                </a:solidFill>
                <a:latin typeface="Aptos"/>
              </a:rPr>
              <a:t>Khách gấp nhất → MinHeap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663440"/>
            <a:ext cx="2971800" cy="310896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82128" y="4690872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F3F5F7"/>
                </a:solidFill>
                <a:latin typeface="Aptos"/>
              </a:rPr>
              <a:t>Mood dialogue → Inverted Index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102352"/>
            <a:ext cx="2971800" cy="310896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8" y="5129784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F3F5F7"/>
                </a:solidFill>
                <a:latin typeface="Aptos"/>
              </a:rPr>
              <a:t>Search recipe → Trie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5102352"/>
            <a:ext cx="2971800" cy="310896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BA6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53128" y="5129784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F3F5F7"/>
                </a:solidFill>
                <a:latin typeface="Aptos"/>
              </a:rPr>
              <a:t>Inventory → Merge Sort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5102352"/>
            <a:ext cx="2971800" cy="310896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882128" y="5129784"/>
            <a:ext cx="2743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F3F5F7"/>
                </a:solidFill>
                <a:latin typeface="Aptos"/>
              </a:rPr>
              <a:t>Leaderboard → Quick Sort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898E8-F346-C181-8F9F-862DAC50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BD4837-7158-C8A4-9EE4-A595ACE519C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AAB4E3-53E9-60E1-E5C9-82D16D9FB8AE}"/>
              </a:ext>
            </a:extLst>
          </p:cNvPr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  <p:pic>
        <p:nvPicPr>
          <p:cNvPr id="50" name="Screen Recording 49">
            <a:hlinkClick r:id="" action="ppaction://media"/>
            <a:extLst>
              <a:ext uri="{FF2B5EF4-FFF2-40B4-BE49-F238E27FC236}">
                <a16:creationId xmlns:a16="http://schemas.microsoft.com/office/drawing/2014/main" id="{465C8F0F-16C9-442F-08EC-B4FFB2C1BC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9050"/>
            <a:ext cx="12192000" cy="681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8256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470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041393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 dirty="0">
                <a:solidFill>
                  <a:srgbClr val="FFD666"/>
                </a:solidFill>
                <a:latin typeface="Aptos"/>
              </a:rPr>
              <a:t>3. </a:t>
            </a:r>
            <a:r>
              <a:rPr lang="en-US" sz="2600" b="1" dirty="0">
                <a:solidFill>
                  <a:srgbClr val="FFD666"/>
                </a:solidFill>
                <a:latin typeface="Aptos"/>
              </a:rPr>
              <a:t>Customer</a:t>
            </a:r>
            <a:endParaRPr sz="2600" b="1" dirty="0">
              <a:solidFill>
                <a:srgbClr val="FFD66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03520" cy="507492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09928"/>
            <a:ext cx="4572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3F5F7"/>
                </a:solidFill>
                <a:latin typeface="Aptos"/>
              </a:rPr>
              <a:t>Bài toán trong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5609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D666"/>
                </a:solidFill>
                <a:latin typeface="Aptos"/>
              </a:rPr>
              <a:t>Hàng chờ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48256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15184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8569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D666"/>
                </a:solidFill>
                <a:latin typeface="Aptos"/>
              </a:rPr>
              <a:t>Ghế tại quầy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294329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F3F5F7"/>
                </a:solidFill>
                <a:latin typeface="Aptos"/>
              </a:rP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83080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74520" y="3301187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3F5F7"/>
                </a:solidFill>
                <a:latin typeface="Aptos"/>
              </a:rPr>
              <a:t>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0" y="3303473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F3F5F7"/>
                </a:solidFill>
                <a:latin typeface="Aptos"/>
              </a:rP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39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79" y="3304997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F3F5F7"/>
                </a:solidFill>
                <a:latin typeface="Aptos"/>
              </a:rPr>
              <a:t>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234440"/>
            <a:ext cx="5394960" cy="507492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992939"/>
            <a:ext cx="46634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 dirty="0" err="1">
                <a:solidFill>
                  <a:srgbClr val="F3F5F7"/>
                </a:solidFill>
                <a:latin typeface="Aptos"/>
              </a:rPr>
              <a:t>Cách</a:t>
            </a:r>
            <a:r>
              <a:rPr sz="1800" b="1" dirty="0">
                <a:solidFill>
                  <a:srgbClr val="F3F5F7"/>
                </a:solidFill>
                <a:latin typeface="Aptos"/>
              </a:rPr>
              <a:t> game </a:t>
            </a:r>
            <a:r>
              <a:rPr sz="1800" b="1" dirty="0" err="1">
                <a:solidFill>
                  <a:srgbClr val="F3F5F7"/>
                </a:solidFill>
                <a:latin typeface="Aptos"/>
              </a:rPr>
              <a:t>giải</a:t>
            </a:r>
            <a:r>
              <a:rPr sz="1800" b="1" dirty="0">
                <a:solidFill>
                  <a:srgbClr val="F3F5F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F3F5F7"/>
                </a:solidFill>
                <a:latin typeface="Aptos"/>
              </a:rPr>
              <a:t>quyết</a:t>
            </a:r>
            <a:endParaRPr sz="1800" b="1" dirty="0">
              <a:solidFill>
                <a:srgbClr val="F3F5F7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91540" y="4645152"/>
            <a:ext cx="2011680" cy="82296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8700" y="4782312"/>
            <a:ext cx="1645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63E6BE"/>
                </a:solidFill>
                <a:latin typeface="Aptos"/>
              </a:rPr>
              <a:t>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" y="5038344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 dirty="0" err="1">
                <a:solidFill>
                  <a:srgbClr val="F3F5F7"/>
                </a:solidFill>
                <a:latin typeface="Aptos"/>
              </a:rPr>
              <a:t>Khách</a:t>
            </a:r>
            <a:r>
              <a:rPr sz="1200" b="0" dirty="0">
                <a:solidFill>
                  <a:srgbClr val="F3F5F7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3F5F7"/>
                </a:solidFill>
                <a:latin typeface="Aptos"/>
              </a:rPr>
              <a:t>chờ</a:t>
            </a:r>
            <a:r>
              <a:rPr sz="1200" b="0" dirty="0">
                <a:solidFill>
                  <a:srgbClr val="F3F5F7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3F5F7"/>
                </a:solidFill>
                <a:latin typeface="Aptos"/>
              </a:rPr>
              <a:t>ngoài</a:t>
            </a:r>
            <a:r>
              <a:rPr sz="1200" b="0" dirty="0">
                <a:solidFill>
                  <a:srgbClr val="F3F5F7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3F5F7"/>
                </a:solidFill>
                <a:latin typeface="Aptos"/>
              </a:rPr>
              <a:t>cửa</a:t>
            </a:r>
            <a:endParaRPr sz="1200" b="0" dirty="0">
              <a:solidFill>
                <a:srgbClr val="F3F5F7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7540" y="4645152"/>
            <a:ext cx="2331720" cy="82296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32988" y="4782312"/>
            <a:ext cx="19202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FD666"/>
                </a:solidFill>
                <a:latin typeface="Aptos"/>
              </a:rPr>
              <a:t>MinHeap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2988" y="5038344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F3F5F7"/>
                </a:solidFill>
                <a:latin typeface="Aptos"/>
              </a:rPr>
              <a:t>Khách đang ngồi tại quầy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  <p:cxnSp>
        <p:nvCxnSpPr>
          <p:cNvPr id="63" name="!!heap_line_left">
            <a:extLst>
              <a:ext uri="{FF2B5EF4-FFF2-40B4-BE49-F238E27FC236}">
                <a16:creationId xmlns:a16="http://schemas.microsoft.com/office/drawing/2014/main" id="{45FBE498-549F-9C71-8959-E933A2DF345C}"/>
              </a:ext>
            </a:extLst>
          </p:cNvPr>
          <p:cNvCxnSpPr/>
          <p:nvPr/>
        </p:nvCxnSpPr>
        <p:spPr>
          <a:xfrm flipH="1">
            <a:off x="7818120" y="4224528"/>
            <a:ext cx="914400" cy="38404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!!heap_line_right">
            <a:extLst>
              <a:ext uri="{FF2B5EF4-FFF2-40B4-BE49-F238E27FC236}">
                <a16:creationId xmlns:a16="http://schemas.microsoft.com/office/drawing/2014/main" id="{D4C6D4B2-6BFC-8FF1-0406-D9A133FCBFF0}"/>
              </a:ext>
            </a:extLst>
          </p:cNvPr>
          <p:cNvCxnSpPr/>
          <p:nvPr/>
        </p:nvCxnSpPr>
        <p:spPr>
          <a:xfrm>
            <a:off x="9006840" y="4224528"/>
            <a:ext cx="731520" cy="38404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!!heap_line_ll">
            <a:extLst>
              <a:ext uri="{FF2B5EF4-FFF2-40B4-BE49-F238E27FC236}">
                <a16:creationId xmlns:a16="http://schemas.microsoft.com/office/drawing/2014/main" id="{5A9A62CD-86E7-8309-6136-11D5EAE69DD4}"/>
              </a:ext>
            </a:extLst>
          </p:cNvPr>
          <p:cNvCxnSpPr/>
          <p:nvPr/>
        </p:nvCxnSpPr>
        <p:spPr>
          <a:xfrm flipH="1">
            <a:off x="7178039" y="5129784"/>
            <a:ext cx="457201" cy="33832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!!heap_C2">
            <a:extLst>
              <a:ext uri="{FF2B5EF4-FFF2-40B4-BE49-F238E27FC236}">
                <a16:creationId xmlns:a16="http://schemas.microsoft.com/office/drawing/2014/main" id="{98612435-E9B9-C9E1-1414-B76C4A3DA2DE}"/>
              </a:ext>
            </a:extLst>
          </p:cNvPr>
          <p:cNvSpPr/>
          <p:nvPr/>
        </p:nvSpPr>
        <p:spPr>
          <a:xfrm>
            <a:off x="8458200" y="3703320"/>
            <a:ext cx="685800" cy="502920"/>
          </a:xfrm>
          <a:prstGeom prst="roundRect">
            <a:avLst/>
          </a:prstGeom>
          <a:solidFill>
            <a:srgbClr val="2A2418"/>
          </a:solidFill>
          <a:ln w="2794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6FA"/>
                </a:solidFill>
              </a:rPr>
              <a:t>C2</a:t>
            </a:r>
          </a:p>
          <a:p>
            <a:pPr algn="ctr"/>
            <a:r>
              <a:rPr sz="1300" b="0">
                <a:solidFill>
                  <a:srgbClr val="F5F6FA"/>
                </a:solidFill>
              </a:rPr>
              <a:t>12s</a:t>
            </a:r>
          </a:p>
        </p:txBody>
      </p:sp>
      <p:sp>
        <p:nvSpPr>
          <p:cNvPr id="67" name="!!heap_C1">
            <a:extLst>
              <a:ext uri="{FF2B5EF4-FFF2-40B4-BE49-F238E27FC236}">
                <a16:creationId xmlns:a16="http://schemas.microsoft.com/office/drawing/2014/main" id="{F569AC46-D57B-71B9-D55E-B77491C5D739}"/>
              </a:ext>
            </a:extLst>
          </p:cNvPr>
          <p:cNvSpPr/>
          <p:nvPr/>
        </p:nvSpPr>
        <p:spPr>
          <a:xfrm>
            <a:off x="7452360" y="4608576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6FA"/>
                </a:solidFill>
              </a:rPr>
              <a:t>C1</a:t>
            </a:r>
          </a:p>
          <a:p>
            <a:pPr algn="ctr"/>
            <a:r>
              <a:rPr sz="1100" b="0">
                <a:solidFill>
                  <a:srgbClr val="F5F6FA"/>
                </a:solidFill>
              </a:rPr>
              <a:t>25s</a:t>
            </a:r>
          </a:p>
        </p:txBody>
      </p:sp>
      <p:sp>
        <p:nvSpPr>
          <p:cNvPr id="68" name="!!heap_C4">
            <a:extLst>
              <a:ext uri="{FF2B5EF4-FFF2-40B4-BE49-F238E27FC236}">
                <a16:creationId xmlns:a16="http://schemas.microsoft.com/office/drawing/2014/main" id="{1600A178-8B1D-DFE7-BC2E-2E63BBAC4DD5}"/>
              </a:ext>
            </a:extLst>
          </p:cNvPr>
          <p:cNvSpPr/>
          <p:nvPr/>
        </p:nvSpPr>
        <p:spPr>
          <a:xfrm>
            <a:off x="9464040" y="4608576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6FA"/>
                </a:solidFill>
              </a:rPr>
              <a:t>C4</a:t>
            </a:r>
          </a:p>
          <a:p>
            <a:pPr algn="ctr"/>
            <a:r>
              <a:rPr sz="1100" b="0">
                <a:solidFill>
                  <a:srgbClr val="F5F6FA"/>
                </a:solidFill>
              </a:rPr>
              <a:t>18s</a:t>
            </a:r>
          </a:p>
        </p:txBody>
      </p:sp>
      <p:sp>
        <p:nvSpPr>
          <p:cNvPr id="69" name="!!heap_C3">
            <a:extLst>
              <a:ext uri="{FF2B5EF4-FFF2-40B4-BE49-F238E27FC236}">
                <a16:creationId xmlns:a16="http://schemas.microsoft.com/office/drawing/2014/main" id="{AD2F0251-1BD7-B1CA-89AE-EE008E2DCBEE}"/>
              </a:ext>
            </a:extLst>
          </p:cNvPr>
          <p:cNvSpPr/>
          <p:nvPr/>
        </p:nvSpPr>
        <p:spPr>
          <a:xfrm>
            <a:off x="6903720" y="5468112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6FA"/>
                </a:solidFill>
              </a:rPr>
              <a:t>C3</a:t>
            </a:r>
          </a:p>
          <a:p>
            <a:pPr algn="ctr"/>
            <a:r>
              <a:rPr sz="1100" b="0">
                <a:solidFill>
                  <a:srgbClr val="F5F6FA"/>
                </a:solidFill>
              </a:rPr>
              <a:t>40s</a:t>
            </a:r>
          </a:p>
        </p:txBody>
      </p:sp>
      <p:sp>
        <p:nvSpPr>
          <p:cNvPr id="72" name="!!queue_chip">
            <a:extLst>
              <a:ext uri="{FF2B5EF4-FFF2-40B4-BE49-F238E27FC236}">
                <a16:creationId xmlns:a16="http://schemas.microsoft.com/office/drawing/2014/main" id="{2CE26B7B-38C6-C0AB-49AD-7C9F802F10D4}"/>
              </a:ext>
            </a:extLst>
          </p:cNvPr>
          <p:cNvSpPr/>
          <p:nvPr/>
        </p:nvSpPr>
        <p:spPr>
          <a:xfrm>
            <a:off x="6492240" y="1836694"/>
            <a:ext cx="1143000" cy="347472"/>
          </a:xfrm>
          <a:prstGeom prst="roundRect">
            <a:avLst/>
          </a:prstGeom>
          <a:solidFill>
            <a:srgbClr val="195052"/>
          </a:solidFill>
          <a:ln w="15240">
            <a:solidFill>
              <a:srgbClr val="6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!!queue_chip_text">
            <a:extLst>
              <a:ext uri="{FF2B5EF4-FFF2-40B4-BE49-F238E27FC236}">
                <a16:creationId xmlns:a16="http://schemas.microsoft.com/office/drawing/2014/main" id="{1F9C253F-0AC4-129E-E643-C5937BBA3F27}"/>
              </a:ext>
            </a:extLst>
          </p:cNvPr>
          <p:cNvSpPr txBox="1"/>
          <p:nvPr/>
        </p:nvSpPr>
        <p:spPr>
          <a:xfrm>
            <a:off x="6512560" y="1850766"/>
            <a:ext cx="10515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60EBE1"/>
                </a:solidFill>
                <a:latin typeface="Aptos Display"/>
              </a:rPr>
              <a:t>Queue</a:t>
            </a:r>
          </a:p>
        </p:txBody>
      </p:sp>
      <p:sp>
        <p:nvSpPr>
          <p:cNvPr id="74" name="!!fifo_text">
            <a:extLst>
              <a:ext uri="{FF2B5EF4-FFF2-40B4-BE49-F238E27FC236}">
                <a16:creationId xmlns:a16="http://schemas.microsoft.com/office/drawing/2014/main" id="{816A13C7-4513-175A-7C10-6E278B14C3BD}"/>
              </a:ext>
            </a:extLst>
          </p:cNvPr>
          <p:cNvSpPr txBox="1"/>
          <p:nvPr/>
        </p:nvSpPr>
        <p:spPr>
          <a:xfrm>
            <a:off x="6323584" y="2456090"/>
            <a:ext cx="7315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60EBE1"/>
                </a:solidFill>
                <a:latin typeface="Aptos Display"/>
              </a:rPr>
              <a:t>FIFO</a:t>
            </a:r>
          </a:p>
        </p:txBody>
      </p:sp>
      <p:sp>
        <p:nvSpPr>
          <p:cNvPr id="75" name="!!queue_C6">
            <a:extLst>
              <a:ext uri="{FF2B5EF4-FFF2-40B4-BE49-F238E27FC236}">
                <a16:creationId xmlns:a16="http://schemas.microsoft.com/office/drawing/2014/main" id="{0863F44B-8400-6127-C5A6-5E1E146D30AA}"/>
              </a:ext>
            </a:extLst>
          </p:cNvPr>
          <p:cNvSpPr/>
          <p:nvPr/>
        </p:nvSpPr>
        <p:spPr>
          <a:xfrm>
            <a:off x="8239760" y="2432304"/>
            <a:ext cx="502920" cy="347472"/>
          </a:xfrm>
          <a:prstGeom prst="roundRect">
            <a:avLst/>
          </a:prstGeom>
          <a:solidFill>
            <a:srgbClr val="235FAF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5F6FA"/>
                </a:solidFill>
                <a:latin typeface="Aptos Display"/>
              </a:rPr>
              <a:t>C6</a:t>
            </a:r>
          </a:p>
        </p:txBody>
      </p:sp>
      <p:cxnSp>
        <p:nvCxnSpPr>
          <p:cNvPr id="76" name="!!queue_line_0">
            <a:extLst>
              <a:ext uri="{FF2B5EF4-FFF2-40B4-BE49-F238E27FC236}">
                <a16:creationId xmlns:a16="http://schemas.microsoft.com/office/drawing/2014/main" id="{F09F5595-38B9-F7E2-50E5-B90B9DE6B313}"/>
              </a:ext>
            </a:extLst>
          </p:cNvPr>
          <p:cNvCxnSpPr>
            <a:cxnSpLocks/>
          </p:cNvCxnSpPr>
          <p:nvPr/>
        </p:nvCxnSpPr>
        <p:spPr>
          <a:xfrm>
            <a:off x="7640320" y="2596896"/>
            <a:ext cx="594360" cy="0"/>
          </a:xfrm>
          <a:prstGeom prst="line">
            <a:avLst/>
          </a:prstGeom>
          <a:ln w="20320">
            <a:solidFill>
              <a:srgbClr val="60E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!!queue_C7">
            <a:extLst>
              <a:ext uri="{FF2B5EF4-FFF2-40B4-BE49-F238E27FC236}">
                <a16:creationId xmlns:a16="http://schemas.microsoft.com/office/drawing/2014/main" id="{228AD909-15AC-2101-5E7A-A76C252CD623}"/>
              </a:ext>
            </a:extLst>
          </p:cNvPr>
          <p:cNvSpPr/>
          <p:nvPr/>
        </p:nvSpPr>
        <p:spPr>
          <a:xfrm>
            <a:off x="9354820" y="2423160"/>
            <a:ext cx="502920" cy="347472"/>
          </a:xfrm>
          <a:prstGeom prst="roundRect">
            <a:avLst/>
          </a:prstGeom>
          <a:solidFill>
            <a:srgbClr val="235FAF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5F6FA"/>
                </a:solidFill>
                <a:latin typeface="Aptos Display"/>
              </a:rPr>
              <a:t>C</a:t>
            </a:r>
            <a:r>
              <a:rPr lang="en-US" sz="1200" b="1" dirty="0">
                <a:solidFill>
                  <a:srgbClr val="F5F6FA"/>
                </a:solidFill>
                <a:latin typeface="Aptos Display"/>
              </a:rPr>
              <a:t>5</a:t>
            </a:r>
            <a:endParaRPr sz="1200" b="1" dirty="0">
              <a:solidFill>
                <a:srgbClr val="F5F6FA"/>
              </a:solidFill>
              <a:latin typeface="Aptos Display"/>
            </a:endParaRPr>
          </a:p>
        </p:txBody>
      </p:sp>
      <p:cxnSp>
        <p:nvCxnSpPr>
          <p:cNvPr id="78" name="!!queue_line_1">
            <a:extLst>
              <a:ext uri="{FF2B5EF4-FFF2-40B4-BE49-F238E27FC236}">
                <a16:creationId xmlns:a16="http://schemas.microsoft.com/office/drawing/2014/main" id="{C432E39B-ABD0-7A20-7B71-949753148312}"/>
              </a:ext>
            </a:extLst>
          </p:cNvPr>
          <p:cNvCxnSpPr>
            <a:cxnSpLocks/>
          </p:cNvCxnSpPr>
          <p:nvPr/>
        </p:nvCxnSpPr>
        <p:spPr>
          <a:xfrm>
            <a:off x="8737600" y="2596896"/>
            <a:ext cx="594360" cy="0"/>
          </a:xfrm>
          <a:prstGeom prst="line">
            <a:avLst/>
          </a:prstGeom>
          <a:ln w="20320">
            <a:solidFill>
              <a:srgbClr val="60E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!!queue_arrow">
            <a:extLst>
              <a:ext uri="{FF2B5EF4-FFF2-40B4-BE49-F238E27FC236}">
                <a16:creationId xmlns:a16="http://schemas.microsoft.com/office/drawing/2014/main" id="{07649C07-466A-0896-4FFA-ACB280ADBF04}"/>
              </a:ext>
            </a:extLst>
          </p:cNvPr>
          <p:cNvSpPr txBox="1"/>
          <p:nvPr/>
        </p:nvSpPr>
        <p:spPr>
          <a:xfrm>
            <a:off x="10021824" y="2370522"/>
            <a:ext cx="25603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60EBE1"/>
                </a:solidFill>
                <a:latin typeface="Aptos Display"/>
              </a:rPr>
              <a:t>→</a:t>
            </a:r>
          </a:p>
        </p:txBody>
      </p:sp>
      <p:sp>
        <p:nvSpPr>
          <p:cNvPr id="81" name="!!queue_C5">
            <a:extLst>
              <a:ext uri="{FF2B5EF4-FFF2-40B4-BE49-F238E27FC236}">
                <a16:creationId xmlns:a16="http://schemas.microsoft.com/office/drawing/2014/main" id="{6FFC23A0-0AC7-757C-19BF-8249F8AE310E}"/>
              </a:ext>
            </a:extLst>
          </p:cNvPr>
          <p:cNvSpPr/>
          <p:nvPr/>
        </p:nvSpPr>
        <p:spPr>
          <a:xfrm>
            <a:off x="7132320" y="2423160"/>
            <a:ext cx="502920" cy="347472"/>
          </a:xfrm>
          <a:prstGeom prst="roundRect">
            <a:avLst/>
          </a:prstGeom>
          <a:solidFill>
            <a:srgbClr val="235FAF"/>
          </a:solidFill>
          <a:ln w="2540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5F6FA"/>
                </a:solidFill>
                <a:latin typeface="Aptos Display"/>
              </a:rPr>
              <a:t>C</a:t>
            </a:r>
            <a:r>
              <a:rPr lang="en-US" sz="1200" b="1" dirty="0">
                <a:solidFill>
                  <a:srgbClr val="F5F6FA"/>
                </a:solidFill>
                <a:latin typeface="Aptos Display"/>
              </a:rPr>
              <a:t>7</a:t>
            </a:r>
            <a:endParaRPr sz="1200" b="1" dirty="0">
              <a:solidFill>
                <a:srgbClr val="F5F6FA"/>
              </a:solidFill>
              <a:latin typeface="Aptos Display"/>
            </a:endParaRPr>
          </a:p>
        </p:txBody>
      </p:sp>
      <p:sp>
        <p:nvSpPr>
          <p:cNvPr id="88" name="!!heap_chip">
            <a:extLst>
              <a:ext uri="{FF2B5EF4-FFF2-40B4-BE49-F238E27FC236}">
                <a16:creationId xmlns:a16="http://schemas.microsoft.com/office/drawing/2014/main" id="{60424572-DC10-2CEC-0A53-CC15999BF7CF}"/>
              </a:ext>
            </a:extLst>
          </p:cNvPr>
          <p:cNvSpPr/>
          <p:nvPr/>
        </p:nvSpPr>
        <p:spPr>
          <a:xfrm>
            <a:off x="6510528" y="3538728"/>
            <a:ext cx="1371600" cy="347472"/>
          </a:xfrm>
          <a:prstGeom prst="roundRect">
            <a:avLst/>
          </a:prstGeom>
          <a:solidFill>
            <a:srgbClr val="483714"/>
          </a:solidFill>
          <a:ln w="1524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!!heap_chip_text">
            <a:extLst>
              <a:ext uri="{FF2B5EF4-FFF2-40B4-BE49-F238E27FC236}">
                <a16:creationId xmlns:a16="http://schemas.microsoft.com/office/drawing/2014/main" id="{9AFEA16B-1054-9EAC-F961-420C92E45DC9}"/>
              </a:ext>
            </a:extLst>
          </p:cNvPr>
          <p:cNvSpPr txBox="1"/>
          <p:nvPr/>
        </p:nvSpPr>
        <p:spPr>
          <a:xfrm>
            <a:off x="6556248" y="3575304"/>
            <a:ext cx="126187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CF4A"/>
                </a:solidFill>
                <a:latin typeface="Aptos Display"/>
              </a:rPr>
              <a:t>MinHeap</a:t>
            </a:r>
          </a:p>
        </p:txBody>
      </p:sp>
      <p:sp>
        <p:nvSpPr>
          <p:cNvPr id="90" name="!!queue_C8">
            <a:extLst>
              <a:ext uri="{FF2B5EF4-FFF2-40B4-BE49-F238E27FC236}">
                <a16:creationId xmlns:a16="http://schemas.microsoft.com/office/drawing/2014/main" id="{1E42641F-89DF-CD28-0C15-63E6368FBFBB}"/>
              </a:ext>
            </a:extLst>
          </p:cNvPr>
          <p:cNvSpPr/>
          <p:nvPr/>
        </p:nvSpPr>
        <p:spPr>
          <a:xfrm>
            <a:off x="-2161540" y="2575560"/>
            <a:ext cx="502920" cy="347472"/>
          </a:xfrm>
          <a:prstGeom prst="roundRect">
            <a:avLst/>
          </a:prstGeom>
          <a:solidFill>
            <a:srgbClr val="235FAF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6FA"/>
                </a:solidFill>
                <a:latin typeface="Aptos Display"/>
              </a:rPr>
              <a:t>C8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48E2F3F-32B9-78B9-C2BF-12418D2008B4}"/>
              </a:ext>
            </a:extLst>
          </p:cNvPr>
          <p:cNvSpPr txBox="1"/>
          <p:nvPr/>
        </p:nvSpPr>
        <p:spPr>
          <a:xfrm>
            <a:off x="2569036" y="1417320"/>
            <a:ext cx="1079847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63E6BE"/>
                </a:solidFill>
                <a:latin typeface="Aptos"/>
              </a:rPr>
              <a:t>GAMEPLAY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C246BFE-F89E-8727-EF7C-191C2F0E6C0A}"/>
              </a:ext>
            </a:extLst>
          </p:cNvPr>
          <p:cNvSpPr txBox="1"/>
          <p:nvPr/>
        </p:nvSpPr>
        <p:spPr>
          <a:xfrm>
            <a:off x="8442128" y="1417320"/>
            <a:ext cx="1180836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400" b="1" dirty="0">
                <a:solidFill>
                  <a:srgbClr val="FFD666"/>
                </a:solidFill>
                <a:latin typeface="Aptos"/>
              </a:rPr>
              <a:t>ALGORITHM</a:t>
            </a:r>
            <a:endParaRPr sz="1400" b="1" dirty="0">
              <a:solidFill>
                <a:srgbClr val="FFD666"/>
              </a:solidFill>
              <a:latin typeface="Aptos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FB324-2272-E457-4A73-2B57F1E6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6735E6-4DDC-8FCC-2F7C-1E1E7D43AF5A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A33CA-E93D-0CA8-125D-F8C15C02CEC4}"/>
              </a:ext>
            </a:extLst>
          </p:cNvPr>
          <p:cNvSpPr txBox="1"/>
          <p:nvPr/>
        </p:nvSpPr>
        <p:spPr>
          <a:xfrm>
            <a:off x="502920" y="274320"/>
            <a:ext cx="2041393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 dirty="0">
                <a:solidFill>
                  <a:srgbClr val="FFD666"/>
                </a:solidFill>
                <a:latin typeface="Aptos"/>
              </a:rPr>
              <a:t>3. </a:t>
            </a:r>
            <a:r>
              <a:rPr lang="en-US" sz="2600" b="1" dirty="0">
                <a:solidFill>
                  <a:srgbClr val="FFD666"/>
                </a:solidFill>
                <a:latin typeface="Aptos"/>
              </a:rPr>
              <a:t>Customer</a:t>
            </a:r>
            <a:endParaRPr sz="2600" b="1" dirty="0">
              <a:solidFill>
                <a:srgbClr val="FFD666"/>
              </a:solidFill>
              <a:latin typeface="Apto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F8D3C2-6DA1-C04D-FDBA-ABB1C9C4C4F3}"/>
              </a:ext>
            </a:extLst>
          </p:cNvPr>
          <p:cNvSpPr/>
          <p:nvPr/>
        </p:nvSpPr>
        <p:spPr>
          <a:xfrm>
            <a:off x="594360" y="1234440"/>
            <a:ext cx="5303520" cy="507492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1B3AC-B5B2-7C72-A594-6B240AF802C2}"/>
              </a:ext>
            </a:extLst>
          </p:cNvPr>
          <p:cNvSpPr txBox="1"/>
          <p:nvPr/>
        </p:nvSpPr>
        <p:spPr>
          <a:xfrm>
            <a:off x="2569036" y="1417320"/>
            <a:ext cx="1079847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63E6BE"/>
                </a:solidFill>
                <a:latin typeface="Aptos"/>
              </a:rPr>
              <a:t>GAMEPLAY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DBBA6-D392-2C92-7C94-2D1DD1723CC5}"/>
              </a:ext>
            </a:extLst>
          </p:cNvPr>
          <p:cNvSpPr txBox="1"/>
          <p:nvPr/>
        </p:nvSpPr>
        <p:spPr>
          <a:xfrm>
            <a:off x="822960" y="1709928"/>
            <a:ext cx="4572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3F5F7"/>
                </a:solidFill>
                <a:latin typeface="Aptos"/>
              </a:rPr>
              <a:t>Bài toán trong game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D2BB51-50F9-B8A5-2FC8-90758520123A}"/>
              </a:ext>
            </a:extLst>
          </p:cNvPr>
          <p:cNvSpPr txBox="1"/>
          <p:nvPr/>
        </p:nvSpPr>
        <p:spPr>
          <a:xfrm>
            <a:off x="914400" y="2105609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D666"/>
                </a:solidFill>
                <a:latin typeface="Aptos"/>
              </a:rPr>
              <a:t>Hàng chờ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8FFC410-AF76-6BED-0C56-53DDC3828284}"/>
              </a:ext>
            </a:extLst>
          </p:cNvPr>
          <p:cNvSpPr/>
          <p:nvPr/>
        </p:nvSpPr>
        <p:spPr>
          <a:xfrm>
            <a:off x="914400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3BC81B7-FDD1-3993-DA19-2E3BD5AF2D4D}"/>
              </a:ext>
            </a:extLst>
          </p:cNvPr>
          <p:cNvSpPr/>
          <p:nvPr/>
        </p:nvSpPr>
        <p:spPr>
          <a:xfrm>
            <a:off x="1481328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91660E3-3A2F-8076-C688-3F80681D205A}"/>
              </a:ext>
            </a:extLst>
          </p:cNvPr>
          <p:cNvSpPr/>
          <p:nvPr/>
        </p:nvSpPr>
        <p:spPr>
          <a:xfrm>
            <a:off x="2048256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C6656D7-BBAB-E800-BA4D-3BF5BF831B31}"/>
              </a:ext>
            </a:extLst>
          </p:cNvPr>
          <p:cNvSpPr/>
          <p:nvPr/>
        </p:nvSpPr>
        <p:spPr>
          <a:xfrm>
            <a:off x="2615184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36D600-9856-2AD5-7763-5125C5A0290D}"/>
              </a:ext>
            </a:extLst>
          </p:cNvPr>
          <p:cNvSpPr txBox="1"/>
          <p:nvPr/>
        </p:nvSpPr>
        <p:spPr>
          <a:xfrm>
            <a:off x="914400" y="2928569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D666"/>
                </a:solidFill>
                <a:latin typeface="Aptos"/>
              </a:rPr>
              <a:t>Ghế tại quầy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40254F3-D861-6EB2-F0CD-21D86DE9BDD0}"/>
              </a:ext>
            </a:extLst>
          </p:cNvPr>
          <p:cNvSpPr/>
          <p:nvPr/>
        </p:nvSpPr>
        <p:spPr>
          <a:xfrm>
            <a:off x="914400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E536DB-7A81-501B-DE7A-9D5470A4EED1}"/>
              </a:ext>
            </a:extLst>
          </p:cNvPr>
          <p:cNvSpPr txBox="1"/>
          <p:nvPr/>
        </p:nvSpPr>
        <p:spPr>
          <a:xfrm>
            <a:off x="1005840" y="3294329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F3F5F7"/>
                </a:solidFill>
                <a:latin typeface="Aptos"/>
              </a:rPr>
              <a:t>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62BF237-A7DA-3CD0-0EA9-F45556AC4366}"/>
              </a:ext>
            </a:extLst>
          </p:cNvPr>
          <p:cNvSpPr/>
          <p:nvPr/>
        </p:nvSpPr>
        <p:spPr>
          <a:xfrm>
            <a:off x="1783080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CFC979-D242-6293-F3D4-8C3507BE3BA3}"/>
              </a:ext>
            </a:extLst>
          </p:cNvPr>
          <p:cNvSpPr txBox="1"/>
          <p:nvPr/>
        </p:nvSpPr>
        <p:spPr>
          <a:xfrm>
            <a:off x="1874520" y="3301187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3F5F7"/>
                </a:solidFill>
                <a:latin typeface="Aptos"/>
              </a:rPr>
              <a:t>B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CC36A59-9CA1-1EA6-3ACA-08052FF55367}"/>
              </a:ext>
            </a:extLst>
          </p:cNvPr>
          <p:cNvSpPr/>
          <p:nvPr/>
        </p:nvSpPr>
        <p:spPr>
          <a:xfrm>
            <a:off x="2651760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3A07ED-9827-1035-B9B7-D24A463B3145}"/>
              </a:ext>
            </a:extLst>
          </p:cNvPr>
          <p:cNvSpPr txBox="1"/>
          <p:nvPr/>
        </p:nvSpPr>
        <p:spPr>
          <a:xfrm>
            <a:off x="2743200" y="3303473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F3F5F7"/>
                </a:solidFill>
                <a:latin typeface="Aptos"/>
              </a:rPr>
              <a:t>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C25F356-3D8C-223C-3208-88353B6E4ECD}"/>
              </a:ext>
            </a:extLst>
          </p:cNvPr>
          <p:cNvSpPr/>
          <p:nvPr/>
        </p:nvSpPr>
        <p:spPr>
          <a:xfrm>
            <a:off x="3520439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9BB04B-77FB-51D1-4876-C49509489C2C}"/>
              </a:ext>
            </a:extLst>
          </p:cNvPr>
          <p:cNvSpPr txBox="1"/>
          <p:nvPr/>
        </p:nvSpPr>
        <p:spPr>
          <a:xfrm>
            <a:off x="3611879" y="3304997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F3F5F7"/>
                </a:solidFill>
                <a:latin typeface="Aptos"/>
              </a:rPr>
              <a:t>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E761E52-A100-8038-4E5E-7AD785DD032E}"/>
              </a:ext>
            </a:extLst>
          </p:cNvPr>
          <p:cNvSpPr/>
          <p:nvPr/>
        </p:nvSpPr>
        <p:spPr>
          <a:xfrm>
            <a:off x="6172200" y="1234440"/>
            <a:ext cx="5394960" cy="507492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728B0C-0228-12A8-1B31-B645D7BB4C44}"/>
              </a:ext>
            </a:extLst>
          </p:cNvPr>
          <p:cNvSpPr txBox="1"/>
          <p:nvPr/>
        </p:nvSpPr>
        <p:spPr>
          <a:xfrm>
            <a:off x="8442128" y="1417320"/>
            <a:ext cx="1180836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400" b="1" dirty="0">
                <a:solidFill>
                  <a:srgbClr val="FFD666"/>
                </a:solidFill>
                <a:latin typeface="Aptos"/>
              </a:rPr>
              <a:t>ALGORITHM</a:t>
            </a:r>
            <a:endParaRPr sz="1400" b="1" dirty="0">
              <a:solidFill>
                <a:srgbClr val="FFD666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047361-D087-A26C-7A53-4DA901C758AE}"/>
              </a:ext>
            </a:extLst>
          </p:cNvPr>
          <p:cNvSpPr txBox="1"/>
          <p:nvPr/>
        </p:nvSpPr>
        <p:spPr>
          <a:xfrm>
            <a:off x="822960" y="3992939"/>
            <a:ext cx="46634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 dirty="0" err="1">
                <a:solidFill>
                  <a:srgbClr val="F3F5F7"/>
                </a:solidFill>
                <a:latin typeface="Aptos"/>
              </a:rPr>
              <a:t>Cách</a:t>
            </a:r>
            <a:r>
              <a:rPr sz="1800" b="1" dirty="0">
                <a:solidFill>
                  <a:srgbClr val="F3F5F7"/>
                </a:solidFill>
                <a:latin typeface="Aptos"/>
              </a:rPr>
              <a:t> game </a:t>
            </a:r>
            <a:r>
              <a:rPr sz="1800" b="1" dirty="0" err="1">
                <a:solidFill>
                  <a:srgbClr val="F3F5F7"/>
                </a:solidFill>
                <a:latin typeface="Aptos"/>
              </a:rPr>
              <a:t>giải</a:t>
            </a:r>
            <a:r>
              <a:rPr sz="1800" b="1" dirty="0">
                <a:solidFill>
                  <a:srgbClr val="F3F5F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F3F5F7"/>
                </a:solidFill>
                <a:latin typeface="Aptos"/>
              </a:rPr>
              <a:t>quyết</a:t>
            </a:r>
            <a:endParaRPr sz="1800" b="1" dirty="0">
              <a:solidFill>
                <a:srgbClr val="F3F5F7"/>
              </a:solidFill>
              <a:latin typeface="Aptos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C08EA46-4664-6853-EE1A-89644085ABF7}"/>
              </a:ext>
            </a:extLst>
          </p:cNvPr>
          <p:cNvSpPr/>
          <p:nvPr/>
        </p:nvSpPr>
        <p:spPr>
          <a:xfrm>
            <a:off x="891540" y="4645152"/>
            <a:ext cx="2011680" cy="82296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9A5A92-4D79-C1B4-A029-ED085C4CE66D}"/>
              </a:ext>
            </a:extLst>
          </p:cNvPr>
          <p:cNvSpPr txBox="1"/>
          <p:nvPr/>
        </p:nvSpPr>
        <p:spPr>
          <a:xfrm>
            <a:off x="1028700" y="4782312"/>
            <a:ext cx="1645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63E6BE"/>
                </a:solidFill>
                <a:latin typeface="Aptos"/>
              </a:rPr>
              <a:t>Queue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6DE637-AF93-7F2C-4BBE-E023FD9412BD}"/>
              </a:ext>
            </a:extLst>
          </p:cNvPr>
          <p:cNvSpPr txBox="1"/>
          <p:nvPr/>
        </p:nvSpPr>
        <p:spPr>
          <a:xfrm>
            <a:off x="1028700" y="5038344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F3F5F7"/>
                </a:solidFill>
                <a:latin typeface="Aptos"/>
              </a:rPr>
              <a:t>Khách chờ ngoài cửa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F1CF5F6-60D4-A4E7-260E-EB6B3ED37083}"/>
              </a:ext>
            </a:extLst>
          </p:cNvPr>
          <p:cNvSpPr/>
          <p:nvPr/>
        </p:nvSpPr>
        <p:spPr>
          <a:xfrm>
            <a:off x="3177540" y="4645152"/>
            <a:ext cx="2331720" cy="82296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4974EB-1ECE-31C8-7667-6A4A0B18F560}"/>
              </a:ext>
            </a:extLst>
          </p:cNvPr>
          <p:cNvSpPr txBox="1"/>
          <p:nvPr/>
        </p:nvSpPr>
        <p:spPr>
          <a:xfrm>
            <a:off x="3332988" y="4782312"/>
            <a:ext cx="19202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FD666"/>
                </a:solidFill>
                <a:latin typeface="Aptos"/>
              </a:rPr>
              <a:t>MinHeap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9DAC1C-553E-DF60-61A5-744F82929119}"/>
              </a:ext>
            </a:extLst>
          </p:cNvPr>
          <p:cNvSpPr txBox="1"/>
          <p:nvPr/>
        </p:nvSpPr>
        <p:spPr>
          <a:xfrm>
            <a:off x="3332988" y="5038344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F3F5F7"/>
                </a:solidFill>
                <a:latin typeface="Aptos"/>
              </a:rPr>
              <a:t>Khách đang ngồi tại quầy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FFA355-EC87-6667-0A36-2DEF99A7F244}"/>
              </a:ext>
            </a:extLst>
          </p:cNvPr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  <p:cxnSp>
        <p:nvCxnSpPr>
          <p:cNvPr id="63" name="!!heap_line_left">
            <a:extLst>
              <a:ext uri="{FF2B5EF4-FFF2-40B4-BE49-F238E27FC236}">
                <a16:creationId xmlns:a16="http://schemas.microsoft.com/office/drawing/2014/main" id="{2BE21771-DD77-9D0E-021F-1676C520A89A}"/>
              </a:ext>
            </a:extLst>
          </p:cNvPr>
          <p:cNvCxnSpPr/>
          <p:nvPr/>
        </p:nvCxnSpPr>
        <p:spPr>
          <a:xfrm flipH="1">
            <a:off x="7818120" y="4224528"/>
            <a:ext cx="914400" cy="38404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!!heap_line_right">
            <a:extLst>
              <a:ext uri="{FF2B5EF4-FFF2-40B4-BE49-F238E27FC236}">
                <a16:creationId xmlns:a16="http://schemas.microsoft.com/office/drawing/2014/main" id="{A63928D3-8FC9-1D1E-9811-B78E19C9ACB8}"/>
              </a:ext>
            </a:extLst>
          </p:cNvPr>
          <p:cNvCxnSpPr/>
          <p:nvPr/>
        </p:nvCxnSpPr>
        <p:spPr>
          <a:xfrm>
            <a:off x="9006840" y="4224528"/>
            <a:ext cx="731520" cy="38404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!!heap_line_ll">
            <a:extLst>
              <a:ext uri="{FF2B5EF4-FFF2-40B4-BE49-F238E27FC236}">
                <a16:creationId xmlns:a16="http://schemas.microsoft.com/office/drawing/2014/main" id="{AFB525A6-2F73-E7D5-C68D-FA65F1213E20}"/>
              </a:ext>
            </a:extLst>
          </p:cNvPr>
          <p:cNvCxnSpPr/>
          <p:nvPr/>
        </p:nvCxnSpPr>
        <p:spPr>
          <a:xfrm flipH="1">
            <a:off x="7178039" y="5129784"/>
            <a:ext cx="457201" cy="33832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!!heap_C2">
            <a:extLst>
              <a:ext uri="{FF2B5EF4-FFF2-40B4-BE49-F238E27FC236}">
                <a16:creationId xmlns:a16="http://schemas.microsoft.com/office/drawing/2014/main" id="{FDC8BC05-ECBE-F9C5-2FA0-18A6D1291507}"/>
              </a:ext>
            </a:extLst>
          </p:cNvPr>
          <p:cNvSpPr/>
          <p:nvPr/>
        </p:nvSpPr>
        <p:spPr>
          <a:xfrm>
            <a:off x="8458200" y="3703320"/>
            <a:ext cx="685800" cy="502920"/>
          </a:xfrm>
          <a:prstGeom prst="roundRect">
            <a:avLst/>
          </a:prstGeom>
          <a:solidFill>
            <a:srgbClr val="2A2418"/>
          </a:solidFill>
          <a:ln w="2794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F5F6FA"/>
                </a:solidFill>
              </a:rPr>
              <a:t>C2</a:t>
            </a:r>
          </a:p>
          <a:p>
            <a:pPr algn="ctr"/>
            <a:r>
              <a:rPr lang="en-US" sz="1300" dirty="0">
                <a:solidFill>
                  <a:srgbClr val="F5F6FA"/>
                </a:solidFill>
              </a:rPr>
              <a:t>8</a:t>
            </a:r>
            <a:r>
              <a:rPr sz="1300" b="0" dirty="0">
                <a:solidFill>
                  <a:srgbClr val="F5F6FA"/>
                </a:solidFill>
              </a:rPr>
              <a:t>s</a:t>
            </a:r>
          </a:p>
        </p:txBody>
      </p:sp>
      <p:sp>
        <p:nvSpPr>
          <p:cNvPr id="67" name="!!heap_C1">
            <a:extLst>
              <a:ext uri="{FF2B5EF4-FFF2-40B4-BE49-F238E27FC236}">
                <a16:creationId xmlns:a16="http://schemas.microsoft.com/office/drawing/2014/main" id="{2E62E0D1-92A2-17DB-4C1C-4BC4FEA28643}"/>
              </a:ext>
            </a:extLst>
          </p:cNvPr>
          <p:cNvSpPr/>
          <p:nvPr/>
        </p:nvSpPr>
        <p:spPr>
          <a:xfrm>
            <a:off x="7452360" y="4608576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5F6FA"/>
                </a:solidFill>
              </a:rPr>
              <a:t>C1</a:t>
            </a:r>
          </a:p>
          <a:p>
            <a:pPr algn="ctr"/>
            <a:r>
              <a:rPr sz="1100" b="0" dirty="0">
                <a:solidFill>
                  <a:srgbClr val="F5F6FA"/>
                </a:solidFill>
              </a:rPr>
              <a:t>2</a:t>
            </a:r>
            <a:r>
              <a:rPr lang="en-US" sz="1100" b="0" dirty="0">
                <a:solidFill>
                  <a:srgbClr val="F5F6FA"/>
                </a:solidFill>
              </a:rPr>
              <a:t>2</a:t>
            </a:r>
            <a:r>
              <a:rPr sz="1100" b="0" dirty="0">
                <a:solidFill>
                  <a:srgbClr val="F5F6FA"/>
                </a:solidFill>
              </a:rPr>
              <a:t>s</a:t>
            </a:r>
          </a:p>
        </p:txBody>
      </p:sp>
      <p:sp>
        <p:nvSpPr>
          <p:cNvPr id="68" name="!!heap_C4">
            <a:extLst>
              <a:ext uri="{FF2B5EF4-FFF2-40B4-BE49-F238E27FC236}">
                <a16:creationId xmlns:a16="http://schemas.microsoft.com/office/drawing/2014/main" id="{8047DE04-35AC-5CAB-71D9-8E95C493F3BE}"/>
              </a:ext>
            </a:extLst>
          </p:cNvPr>
          <p:cNvSpPr/>
          <p:nvPr/>
        </p:nvSpPr>
        <p:spPr>
          <a:xfrm>
            <a:off x="9464040" y="4608576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5F6FA"/>
                </a:solidFill>
              </a:rPr>
              <a:t>C4</a:t>
            </a:r>
          </a:p>
          <a:p>
            <a:pPr algn="ctr"/>
            <a:r>
              <a:rPr lang="en-US" sz="1100" dirty="0">
                <a:solidFill>
                  <a:srgbClr val="F5F6FA"/>
                </a:solidFill>
              </a:rPr>
              <a:t>15</a:t>
            </a:r>
            <a:r>
              <a:rPr sz="1100" b="0" dirty="0">
                <a:solidFill>
                  <a:srgbClr val="F5F6FA"/>
                </a:solidFill>
              </a:rPr>
              <a:t>s</a:t>
            </a:r>
          </a:p>
        </p:txBody>
      </p:sp>
      <p:sp>
        <p:nvSpPr>
          <p:cNvPr id="69" name="!!heap_C3">
            <a:extLst>
              <a:ext uri="{FF2B5EF4-FFF2-40B4-BE49-F238E27FC236}">
                <a16:creationId xmlns:a16="http://schemas.microsoft.com/office/drawing/2014/main" id="{C8D35D18-6370-C912-BD6A-5D1B42161290}"/>
              </a:ext>
            </a:extLst>
          </p:cNvPr>
          <p:cNvSpPr/>
          <p:nvPr/>
        </p:nvSpPr>
        <p:spPr>
          <a:xfrm>
            <a:off x="6903720" y="5468112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5F6FA"/>
                </a:solidFill>
              </a:rPr>
              <a:t>C3</a:t>
            </a:r>
          </a:p>
          <a:p>
            <a:pPr algn="ctr"/>
            <a:r>
              <a:rPr lang="en-US" sz="1100" dirty="0">
                <a:solidFill>
                  <a:srgbClr val="F5F6FA"/>
                </a:solidFill>
              </a:rPr>
              <a:t>38</a:t>
            </a:r>
            <a:r>
              <a:rPr sz="1100" b="0" dirty="0">
                <a:solidFill>
                  <a:srgbClr val="F5F6FA"/>
                </a:solidFill>
              </a:rPr>
              <a:t>s</a:t>
            </a:r>
          </a:p>
        </p:txBody>
      </p:sp>
      <p:sp>
        <p:nvSpPr>
          <p:cNvPr id="72" name="!!queue_chip">
            <a:extLst>
              <a:ext uri="{FF2B5EF4-FFF2-40B4-BE49-F238E27FC236}">
                <a16:creationId xmlns:a16="http://schemas.microsoft.com/office/drawing/2014/main" id="{3E4F87B8-7A36-ADF6-412B-DD905EF403BD}"/>
              </a:ext>
            </a:extLst>
          </p:cNvPr>
          <p:cNvSpPr/>
          <p:nvPr/>
        </p:nvSpPr>
        <p:spPr>
          <a:xfrm>
            <a:off x="6492240" y="1836694"/>
            <a:ext cx="1143000" cy="347472"/>
          </a:xfrm>
          <a:prstGeom prst="roundRect">
            <a:avLst/>
          </a:prstGeom>
          <a:solidFill>
            <a:srgbClr val="195052"/>
          </a:solidFill>
          <a:ln w="15240">
            <a:solidFill>
              <a:srgbClr val="6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!!queue_chip_text">
            <a:extLst>
              <a:ext uri="{FF2B5EF4-FFF2-40B4-BE49-F238E27FC236}">
                <a16:creationId xmlns:a16="http://schemas.microsoft.com/office/drawing/2014/main" id="{29935B8E-2DF0-85A4-1C77-D54C48D4BE05}"/>
              </a:ext>
            </a:extLst>
          </p:cNvPr>
          <p:cNvSpPr txBox="1"/>
          <p:nvPr/>
        </p:nvSpPr>
        <p:spPr>
          <a:xfrm>
            <a:off x="6512560" y="1850766"/>
            <a:ext cx="10515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60EBE1"/>
                </a:solidFill>
                <a:latin typeface="Aptos Display"/>
              </a:rPr>
              <a:t>Queue</a:t>
            </a:r>
          </a:p>
        </p:txBody>
      </p:sp>
      <p:sp>
        <p:nvSpPr>
          <p:cNvPr id="74" name="!!fifo_text">
            <a:extLst>
              <a:ext uri="{FF2B5EF4-FFF2-40B4-BE49-F238E27FC236}">
                <a16:creationId xmlns:a16="http://schemas.microsoft.com/office/drawing/2014/main" id="{0BFC8435-2710-4B26-C85D-9876B168B0AF}"/>
              </a:ext>
            </a:extLst>
          </p:cNvPr>
          <p:cNvSpPr txBox="1"/>
          <p:nvPr/>
        </p:nvSpPr>
        <p:spPr>
          <a:xfrm>
            <a:off x="6323584" y="2456090"/>
            <a:ext cx="7315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60EBE1"/>
                </a:solidFill>
                <a:latin typeface="Aptos Display"/>
              </a:rPr>
              <a:t>FIFO</a:t>
            </a:r>
          </a:p>
        </p:txBody>
      </p:sp>
      <p:sp>
        <p:nvSpPr>
          <p:cNvPr id="75" name="!!queue_C6">
            <a:extLst>
              <a:ext uri="{FF2B5EF4-FFF2-40B4-BE49-F238E27FC236}">
                <a16:creationId xmlns:a16="http://schemas.microsoft.com/office/drawing/2014/main" id="{8B115739-14A4-314D-D9BD-3B458B712A63}"/>
              </a:ext>
            </a:extLst>
          </p:cNvPr>
          <p:cNvSpPr/>
          <p:nvPr/>
        </p:nvSpPr>
        <p:spPr>
          <a:xfrm>
            <a:off x="9354820" y="2432304"/>
            <a:ext cx="502920" cy="347472"/>
          </a:xfrm>
          <a:prstGeom prst="roundRect">
            <a:avLst/>
          </a:prstGeom>
          <a:solidFill>
            <a:srgbClr val="235FAF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5F6FA"/>
                </a:solidFill>
                <a:latin typeface="Aptos Display"/>
              </a:rPr>
              <a:t>C</a:t>
            </a:r>
            <a:r>
              <a:rPr lang="en-US" sz="1200" b="1" dirty="0">
                <a:solidFill>
                  <a:srgbClr val="F5F6FA"/>
                </a:solidFill>
                <a:latin typeface="Aptos Display"/>
              </a:rPr>
              <a:t>6</a:t>
            </a:r>
            <a:endParaRPr sz="1200" b="1" dirty="0">
              <a:solidFill>
                <a:srgbClr val="F5F6FA"/>
              </a:solidFill>
              <a:latin typeface="Aptos Display"/>
            </a:endParaRPr>
          </a:p>
        </p:txBody>
      </p:sp>
      <p:cxnSp>
        <p:nvCxnSpPr>
          <p:cNvPr id="76" name="!!queue_line_0">
            <a:extLst>
              <a:ext uri="{FF2B5EF4-FFF2-40B4-BE49-F238E27FC236}">
                <a16:creationId xmlns:a16="http://schemas.microsoft.com/office/drawing/2014/main" id="{63886D97-459D-463E-C42F-2777ECF51B7C}"/>
              </a:ext>
            </a:extLst>
          </p:cNvPr>
          <p:cNvCxnSpPr>
            <a:cxnSpLocks/>
          </p:cNvCxnSpPr>
          <p:nvPr/>
        </p:nvCxnSpPr>
        <p:spPr>
          <a:xfrm>
            <a:off x="7640320" y="2596896"/>
            <a:ext cx="594360" cy="0"/>
          </a:xfrm>
          <a:prstGeom prst="line">
            <a:avLst/>
          </a:prstGeom>
          <a:ln w="20320">
            <a:solidFill>
              <a:srgbClr val="60E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!!queue_C7">
            <a:extLst>
              <a:ext uri="{FF2B5EF4-FFF2-40B4-BE49-F238E27FC236}">
                <a16:creationId xmlns:a16="http://schemas.microsoft.com/office/drawing/2014/main" id="{C2024220-A2D7-2909-E4B6-FB1C15623D72}"/>
              </a:ext>
            </a:extLst>
          </p:cNvPr>
          <p:cNvSpPr/>
          <p:nvPr/>
        </p:nvSpPr>
        <p:spPr>
          <a:xfrm>
            <a:off x="10529316" y="2431783"/>
            <a:ext cx="502920" cy="347472"/>
          </a:xfrm>
          <a:prstGeom prst="roundRect">
            <a:avLst/>
          </a:prstGeom>
          <a:solidFill>
            <a:srgbClr val="235FAF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5F6FA"/>
                </a:solidFill>
                <a:latin typeface="Aptos Display"/>
              </a:rPr>
              <a:t>C</a:t>
            </a:r>
            <a:r>
              <a:rPr lang="en-US" sz="1200" b="1" dirty="0">
                <a:solidFill>
                  <a:srgbClr val="F5F6FA"/>
                </a:solidFill>
                <a:latin typeface="Aptos Display"/>
              </a:rPr>
              <a:t>5</a:t>
            </a:r>
            <a:endParaRPr sz="1200" b="1" dirty="0">
              <a:solidFill>
                <a:srgbClr val="F5F6FA"/>
              </a:solidFill>
              <a:latin typeface="Aptos Display"/>
            </a:endParaRPr>
          </a:p>
        </p:txBody>
      </p:sp>
      <p:cxnSp>
        <p:nvCxnSpPr>
          <p:cNvPr id="78" name="!!queue_line_1">
            <a:extLst>
              <a:ext uri="{FF2B5EF4-FFF2-40B4-BE49-F238E27FC236}">
                <a16:creationId xmlns:a16="http://schemas.microsoft.com/office/drawing/2014/main" id="{453113E0-B7EA-10B2-B9C9-092F2D7468F1}"/>
              </a:ext>
            </a:extLst>
          </p:cNvPr>
          <p:cNvCxnSpPr>
            <a:cxnSpLocks/>
          </p:cNvCxnSpPr>
          <p:nvPr/>
        </p:nvCxnSpPr>
        <p:spPr>
          <a:xfrm>
            <a:off x="8737600" y="2596896"/>
            <a:ext cx="594360" cy="0"/>
          </a:xfrm>
          <a:prstGeom prst="line">
            <a:avLst/>
          </a:prstGeom>
          <a:ln w="20320">
            <a:solidFill>
              <a:srgbClr val="60E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!!queue_arrow">
            <a:extLst>
              <a:ext uri="{FF2B5EF4-FFF2-40B4-BE49-F238E27FC236}">
                <a16:creationId xmlns:a16="http://schemas.microsoft.com/office/drawing/2014/main" id="{330F177B-7154-D532-BD6F-61DE22355D46}"/>
              </a:ext>
            </a:extLst>
          </p:cNvPr>
          <p:cNvSpPr txBox="1"/>
          <p:nvPr/>
        </p:nvSpPr>
        <p:spPr>
          <a:xfrm>
            <a:off x="10021824" y="2417617"/>
            <a:ext cx="25603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60EBE1"/>
                </a:solidFill>
                <a:latin typeface="Aptos Display"/>
              </a:rPr>
              <a:t>→</a:t>
            </a:r>
          </a:p>
        </p:txBody>
      </p:sp>
      <p:sp>
        <p:nvSpPr>
          <p:cNvPr id="81" name="!!queue_C5">
            <a:extLst>
              <a:ext uri="{FF2B5EF4-FFF2-40B4-BE49-F238E27FC236}">
                <a16:creationId xmlns:a16="http://schemas.microsoft.com/office/drawing/2014/main" id="{7AAE7594-FB8E-9D0F-0EB2-45BC95F1657F}"/>
              </a:ext>
            </a:extLst>
          </p:cNvPr>
          <p:cNvSpPr/>
          <p:nvPr/>
        </p:nvSpPr>
        <p:spPr>
          <a:xfrm>
            <a:off x="8229600" y="2423160"/>
            <a:ext cx="502920" cy="347472"/>
          </a:xfrm>
          <a:prstGeom prst="roundRect">
            <a:avLst/>
          </a:prstGeom>
          <a:solidFill>
            <a:srgbClr val="235FAF"/>
          </a:solidFill>
          <a:ln w="2540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5F6FA"/>
                </a:solidFill>
                <a:latin typeface="Aptos Display"/>
              </a:rPr>
              <a:t>C</a:t>
            </a:r>
            <a:r>
              <a:rPr lang="en-US" sz="1200" b="1" dirty="0">
                <a:solidFill>
                  <a:srgbClr val="F5F6FA"/>
                </a:solidFill>
                <a:latin typeface="Aptos Display"/>
              </a:rPr>
              <a:t>7</a:t>
            </a:r>
            <a:endParaRPr sz="1200" b="1" dirty="0">
              <a:solidFill>
                <a:srgbClr val="F5F6FA"/>
              </a:solidFill>
              <a:latin typeface="Aptos Display"/>
            </a:endParaRPr>
          </a:p>
        </p:txBody>
      </p:sp>
      <p:sp>
        <p:nvSpPr>
          <p:cNvPr id="88" name="!!heap_chip">
            <a:extLst>
              <a:ext uri="{FF2B5EF4-FFF2-40B4-BE49-F238E27FC236}">
                <a16:creationId xmlns:a16="http://schemas.microsoft.com/office/drawing/2014/main" id="{0DC70D88-F2D9-1ACB-4FA8-9AE7B54A9575}"/>
              </a:ext>
            </a:extLst>
          </p:cNvPr>
          <p:cNvSpPr/>
          <p:nvPr/>
        </p:nvSpPr>
        <p:spPr>
          <a:xfrm>
            <a:off x="6510528" y="3538728"/>
            <a:ext cx="1371600" cy="347472"/>
          </a:xfrm>
          <a:prstGeom prst="roundRect">
            <a:avLst/>
          </a:prstGeom>
          <a:solidFill>
            <a:srgbClr val="483714"/>
          </a:solidFill>
          <a:ln w="1524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!!heap_chip_text">
            <a:extLst>
              <a:ext uri="{FF2B5EF4-FFF2-40B4-BE49-F238E27FC236}">
                <a16:creationId xmlns:a16="http://schemas.microsoft.com/office/drawing/2014/main" id="{56BA1A41-ABC2-384B-A3A8-B5141EFDAD45}"/>
              </a:ext>
            </a:extLst>
          </p:cNvPr>
          <p:cNvSpPr txBox="1"/>
          <p:nvPr/>
        </p:nvSpPr>
        <p:spPr>
          <a:xfrm>
            <a:off x="6556248" y="3575304"/>
            <a:ext cx="126187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CF4A"/>
                </a:solidFill>
                <a:latin typeface="Aptos Display"/>
              </a:rPr>
              <a:t>MinHeap</a:t>
            </a:r>
          </a:p>
        </p:txBody>
      </p:sp>
      <p:sp>
        <p:nvSpPr>
          <p:cNvPr id="4" name="!!queue_C8">
            <a:extLst>
              <a:ext uri="{FF2B5EF4-FFF2-40B4-BE49-F238E27FC236}">
                <a16:creationId xmlns:a16="http://schemas.microsoft.com/office/drawing/2014/main" id="{10BADAAB-1EB4-F831-0F1D-1942FC3A094C}"/>
              </a:ext>
            </a:extLst>
          </p:cNvPr>
          <p:cNvSpPr/>
          <p:nvPr/>
        </p:nvSpPr>
        <p:spPr>
          <a:xfrm>
            <a:off x="7132320" y="2423160"/>
            <a:ext cx="502920" cy="347472"/>
          </a:xfrm>
          <a:prstGeom prst="roundRect">
            <a:avLst/>
          </a:prstGeom>
          <a:solidFill>
            <a:srgbClr val="235FAF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6FA"/>
                </a:solidFill>
                <a:latin typeface="Aptos Display"/>
              </a:rPr>
              <a:t>C8</a:t>
            </a:r>
          </a:p>
        </p:txBody>
      </p:sp>
    </p:spTree>
    <p:extLst>
      <p:ext uri="{BB962C8B-B14F-4D97-AF65-F5344CB8AC3E}">
        <p14:creationId xmlns:p14="http://schemas.microsoft.com/office/powerpoint/2010/main" val="18371699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476FA-F41D-6A04-C41E-4A8CBEB0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21D561-9E31-6113-3768-571A406B88EE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325AE-8708-6B2C-9310-4339D76FD277}"/>
              </a:ext>
            </a:extLst>
          </p:cNvPr>
          <p:cNvSpPr txBox="1"/>
          <p:nvPr/>
        </p:nvSpPr>
        <p:spPr>
          <a:xfrm>
            <a:off x="502920" y="274320"/>
            <a:ext cx="2041393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 dirty="0">
                <a:solidFill>
                  <a:srgbClr val="FFD666"/>
                </a:solidFill>
                <a:latin typeface="Aptos"/>
              </a:rPr>
              <a:t>3. </a:t>
            </a:r>
            <a:r>
              <a:rPr lang="en-US" sz="2600" b="1" dirty="0">
                <a:solidFill>
                  <a:srgbClr val="FFD666"/>
                </a:solidFill>
                <a:latin typeface="Aptos"/>
              </a:rPr>
              <a:t>Customer</a:t>
            </a:r>
            <a:endParaRPr sz="2600" b="1" dirty="0">
              <a:solidFill>
                <a:srgbClr val="FFD666"/>
              </a:solidFill>
              <a:latin typeface="Apto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0BBB29A-8679-CA32-0A6A-063CADEF6C62}"/>
              </a:ext>
            </a:extLst>
          </p:cNvPr>
          <p:cNvSpPr/>
          <p:nvPr/>
        </p:nvSpPr>
        <p:spPr>
          <a:xfrm>
            <a:off x="594360" y="1234440"/>
            <a:ext cx="5303520" cy="507492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39DDC-2B74-A0DC-B784-FEEA1879D44E}"/>
              </a:ext>
            </a:extLst>
          </p:cNvPr>
          <p:cNvSpPr txBox="1"/>
          <p:nvPr/>
        </p:nvSpPr>
        <p:spPr>
          <a:xfrm>
            <a:off x="822960" y="1709928"/>
            <a:ext cx="4572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3F5F7"/>
                </a:solidFill>
                <a:latin typeface="Aptos"/>
              </a:rPr>
              <a:t>Bài toán trong game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83FEB2-E24D-7E45-4EEB-50BC93339BDA}"/>
              </a:ext>
            </a:extLst>
          </p:cNvPr>
          <p:cNvSpPr txBox="1"/>
          <p:nvPr/>
        </p:nvSpPr>
        <p:spPr>
          <a:xfrm>
            <a:off x="914400" y="2105609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D666"/>
                </a:solidFill>
                <a:latin typeface="Aptos"/>
              </a:rPr>
              <a:t>Hàng chờ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2ACEE9F-2755-FEE1-0829-264C01012BC5}"/>
              </a:ext>
            </a:extLst>
          </p:cNvPr>
          <p:cNvSpPr/>
          <p:nvPr/>
        </p:nvSpPr>
        <p:spPr>
          <a:xfrm>
            <a:off x="914400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34C8C78-7C54-8B4F-FDFC-959530178160}"/>
              </a:ext>
            </a:extLst>
          </p:cNvPr>
          <p:cNvSpPr/>
          <p:nvPr/>
        </p:nvSpPr>
        <p:spPr>
          <a:xfrm>
            <a:off x="1481328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42D5593-2BFF-AFB9-07E5-E1E20F7A47A2}"/>
              </a:ext>
            </a:extLst>
          </p:cNvPr>
          <p:cNvSpPr/>
          <p:nvPr/>
        </p:nvSpPr>
        <p:spPr>
          <a:xfrm>
            <a:off x="2048256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3E007D-113F-FEDB-C4B0-B882A0C31E2E}"/>
              </a:ext>
            </a:extLst>
          </p:cNvPr>
          <p:cNvSpPr/>
          <p:nvPr/>
        </p:nvSpPr>
        <p:spPr>
          <a:xfrm>
            <a:off x="2615184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B3FADE-F74B-2075-197F-F8C49044A9DE}"/>
              </a:ext>
            </a:extLst>
          </p:cNvPr>
          <p:cNvSpPr txBox="1"/>
          <p:nvPr/>
        </p:nvSpPr>
        <p:spPr>
          <a:xfrm>
            <a:off x="914400" y="2928569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D666"/>
                </a:solidFill>
                <a:latin typeface="Aptos"/>
              </a:rPr>
              <a:t>Ghế tại quầy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F4B10C5-1C95-0075-22F4-1D9BAB508F5B}"/>
              </a:ext>
            </a:extLst>
          </p:cNvPr>
          <p:cNvSpPr/>
          <p:nvPr/>
        </p:nvSpPr>
        <p:spPr>
          <a:xfrm>
            <a:off x="914400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5B70E-F29E-B3E5-BB5C-6AD326004A78}"/>
              </a:ext>
            </a:extLst>
          </p:cNvPr>
          <p:cNvSpPr txBox="1"/>
          <p:nvPr/>
        </p:nvSpPr>
        <p:spPr>
          <a:xfrm>
            <a:off x="1005840" y="3294329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F3F5F7"/>
                </a:solidFill>
                <a:latin typeface="Aptos"/>
              </a:rPr>
              <a:t>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84BDAFE-CE0A-B3A8-1952-598B3373D687}"/>
              </a:ext>
            </a:extLst>
          </p:cNvPr>
          <p:cNvSpPr/>
          <p:nvPr/>
        </p:nvSpPr>
        <p:spPr>
          <a:xfrm>
            <a:off x="1783080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E3BA54-A233-D4E5-A02A-84CB34D30647}"/>
              </a:ext>
            </a:extLst>
          </p:cNvPr>
          <p:cNvSpPr txBox="1"/>
          <p:nvPr/>
        </p:nvSpPr>
        <p:spPr>
          <a:xfrm>
            <a:off x="1874520" y="3301187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3F5F7"/>
                </a:solidFill>
                <a:latin typeface="Aptos"/>
              </a:rPr>
              <a:t>B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0415136-922B-1043-B1DB-01DC29DB9AFD}"/>
              </a:ext>
            </a:extLst>
          </p:cNvPr>
          <p:cNvSpPr/>
          <p:nvPr/>
        </p:nvSpPr>
        <p:spPr>
          <a:xfrm>
            <a:off x="2651760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C31BE6-A6C7-3592-8C1E-752E42AC63B7}"/>
              </a:ext>
            </a:extLst>
          </p:cNvPr>
          <p:cNvSpPr txBox="1"/>
          <p:nvPr/>
        </p:nvSpPr>
        <p:spPr>
          <a:xfrm>
            <a:off x="2743200" y="3303473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F3F5F7"/>
                </a:solidFill>
                <a:latin typeface="Aptos"/>
              </a:rPr>
              <a:t>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B55E268-23C2-9983-9BB7-B22721CDEBC2}"/>
              </a:ext>
            </a:extLst>
          </p:cNvPr>
          <p:cNvSpPr/>
          <p:nvPr/>
        </p:nvSpPr>
        <p:spPr>
          <a:xfrm>
            <a:off x="3520439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9082E2-CED5-A4F2-3C20-F2AEFC0F9EFF}"/>
              </a:ext>
            </a:extLst>
          </p:cNvPr>
          <p:cNvSpPr txBox="1"/>
          <p:nvPr/>
        </p:nvSpPr>
        <p:spPr>
          <a:xfrm>
            <a:off x="3611879" y="3304997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F3F5F7"/>
                </a:solidFill>
                <a:latin typeface="Aptos"/>
              </a:rPr>
              <a:t>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DF3BD71-15B8-0C6B-333F-B10CF1CFDBB0}"/>
              </a:ext>
            </a:extLst>
          </p:cNvPr>
          <p:cNvSpPr/>
          <p:nvPr/>
        </p:nvSpPr>
        <p:spPr>
          <a:xfrm>
            <a:off x="6172200" y="1234440"/>
            <a:ext cx="5394960" cy="507492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14DEE3-8783-A40D-A6FC-D02D1F83A725}"/>
              </a:ext>
            </a:extLst>
          </p:cNvPr>
          <p:cNvSpPr txBox="1"/>
          <p:nvPr/>
        </p:nvSpPr>
        <p:spPr>
          <a:xfrm>
            <a:off x="822960" y="3992939"/>
            <a:ext cx="46634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 dirty="0" err="1">
                <a:solidFill>
                  <a:srgbClr val="F3F5F7"/>
                </a:solidFill>
                <a:latin typeface="Aptos"/>
              </a:rPr>
              <a:t>Cách</a:t>
            </a:r>
            <a:r>
              <a:rPr sz="1800" b="1" dirty="0">
                <a:solidFill>
                  <a:srgbClr val="F3F5F7"/>
                </a:solidFill>
                <a:latin typeface="Aptos"/>
              </a:rPr>
              <a:t> game </a:t>
            </a:r>
            <a:r>
              <a:rPr sz="1800" b="1" dirty="0" err="1">
                <a:solidFill>
                  <a:srgbClr val="F3F5F7"/>
                </a:solidFill>
                <a:latin typeface="Aptos"/>
              </a:rPr>
              <a:t>giải</a:t>
            </a:r>
            <a:r>
              <a:rPr sz="1800" b="1" dirty="0">
                <a:solidFill>
                  <a:srgbClr val="F3F5F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F3F5F7"/>
                </a:solidFill>
                <a:latin typeface="Aptos"/>
              </a:rPr>
              <a:t>quyết</a:t>
            </a:r>
            <a:endParaRPr sz="1800" b="1" dirty="0">
              <a:solidFill>
                <a:srgbClr val="F3F5F7"/>
              </a:solidFill>
              <a:latin typeface="Aptos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FBE4E0D-7C44-367F-5D8F-321D1F7C5518}"/>
              </a:ext>
            </a:extLst>
          </p:cNvPr>
          <p:cNvSpPr/>
          <p:nvPr/>
        </p:nvSpPr>
        <p:spPr>
          <a:xfrm>
            <a:off x="891540" y="4645152"/>
            <a:ext cx="2011680" cy="82296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2A6134-0824-1585-6862-A41A0253C4F0}"/>
              </a:ext>
            </a:extLst>
          </p:cNvPr>
          <p:cNvSpPr txBox="1"/>
          <p:nvPr/>
        </p:nvSpPr>
        <p:spPr>
          <a:xfrm>
            <a:off x="1028700" y="4782312"/>
            <a:ext cx="1645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63E6BE"/>
                </a:solidFill>
                <a:latin typeface="Aptos"/>
              </a:rPr>
              <a:t>Queue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61E93C-6EA6-BEED-9D19-6221DC0E4DAF}"/>
              </a:ext>
            </a:extLst>
          </p:cNvPr>
          <p:cNvSpPr txBox="1"/>
          <p:nvPr/>
        </p:nvSpPr>
        <p:spPr>
          <a:xfrm>
            <a:off x="1028700" y="5038344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F3F5F7"/>
                </a:solidFill>
                <a:latin typeface="Aptos"/>
              </a:rPr>
              <a:t>Khách chờ ngoài cửa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F1BFACE-F26D-902E-1A28-7B148133A4ED}"/>
              </a:ext>
            </a:extLst>
          </p:cNvPr>
          <p:cNvSpPr/>
          <p:nvPr/>
        </p:nvSpPr>
        <p:spPr>
          <a:xfrm>
            <a:off x="3177540" y="4645152"/>
            <a:ext cx="2331720" cy="82296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D9EFD7-8C1A-B8EB-9EA2-F5FC11D51FA4}"/>
              </a:ext>
            </a:extLst>
          </p:cNvPr>
          <p:cNvSpPr txBox="1"/>
          <p:nvPr/>
        </p:nvSpPr>
        <p:spPr>
          <a:xfrm>
            <a:off x="3332988" y="4782312"/>
            <a:ext cx="19202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FD666"/>
                </a:solidFill>
                <a:latin typeface="Aptos"/>
              </a:rPr>
              <a:t>MinHeap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45DFA2-8086-DB3C-57D4-6891F34DA8B4}"/>
              </a:ext>
            </a:extLst>
          </p:cNvPr>
          <p:cNvSpPr txBox="1"/>
          <p:nvPr/>
        </p:nvSpPr>
        <p:spPr>
          <a:xfrm>
            <a:off x="3332988" y="5038344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F3F5F7"/>
                </a:solidFill>
                <a:latin typeface="Aptos"/>
              </a:rPr>
              <a:t>Khách đang ngồi tại quầy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24DF49-8D90-3A2E-0CF6-F51ECC79C296}"/>
              </a:ext>
            </a:extLst>
          </p:cNvPr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  <p:cxnSp>
        <p:nvCxnSpPr>
          <p:cNvPr id="63" name="!!heap_line_left">
            <a:extLst>
              <a:ext uri="{FF2B5EF4-FFF2-40B4-BE49-F238E27FC236}">
                <a16:creationId xmlns:a16="http://schemas.microsoft.com/office/drawing/2014/main" id="{FDD4B893-6B33-83E3-4C6B-C4500C87764C}"/>
              </a:ext>
            </a:extLst>
          </p:cNvPr>
          <p:cNvCxnSpPr/>
          <p:nvPr/>
        </p:nvCxnSpPr>
        <p:spPr>
          <a:xfrm flipH="1">
            <a:off x="7818120" y="4224528"/>
            <a:ext cx="914400" cy="38404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!!heap_line_right">
            <a:extLst>
              <a:ext uri="{FF2B5EF4-FFF2-40B4-BE49-F238E27FC236}">
                <a16:creationId xmlns:a16="http://schemas.microsoft.com/office/drawing/2014/main" id="{63AF6B22-3C54-774B-B477-F0CDD9633783}"/>
              </a:ext>
            </a:extLst>
          </p:cNvPr>
          <p:cNvCxnSpPr/>
          <p:nvPr/>
        </p:nvCxnSpPr>
        <p:spPr>
          <a:xfrm>
            <a:off x="9006840" y="4224528"/>
            <a:ext cx="731520" cy="38404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!!heap_line_ll">
            <a:extLst>
              <a:ext uri="{FF2B5EF4-FFF2-40B4-BE49-F238E27FC236}">
                <a16:creationId xmlns:a16="http://schemas.microsoft.com/office/drawing/2014/main" id="{F41FE871-C168-7DBB-DBCD-89492324B87B}"/>
              </a:ext>
            </a:extLst>
          </p:cNvPr>
          <p:cNvCxnSpPr/>
          <p:nvPr/>
        </p:nvCxnSpPr>
        <p:spPr>
          <a:xfrm flipH="1">
            <a:off x="7178039" y="5129784"/>
            <a:ext cx="457201" cy="33832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heap_C1">
            <a:extLst>
              <a:ext uri="{FF2B5EF4-FFF2-40B4-BE49-F238E27FC236}">
                <a16:creationId xmlns:a16="http://schemas.microsoft.com/office/drawing/2014/main" id="{C700CC56-634A-86E2-623A-A6DC13658847}"/>
              </a:ext>
            </a:extLst>
          </p:cNvPr>
          <p:cNvSpPr/>
          <p:nvPr/>
        </p:nvSpPr>
        <p:spPr>
          <a:xfrm>
            <a:off x="7452360" y="4608576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5F6FA"/>
                </a:solidFill>
              </a:rPr>
              <a:t>C1</a:t>
            </a:r>
          </a:p>
          <a:p>
            <a:pPr algn="ctr"/>
            <a:r>
              <a:rPr sz="1100" b="0" dirty="0">
                <a:solidFill>
                  <a:srgbClr val="F5F6FA"/>
                </a:solidFill>
              </a:rPr>
              <a:t>2</a:t>
            </a:r>
            <a:r>
              <a:rPr lang="en-US" sz="1100" b="0" dirty="0">
                <a:solidFill>
                  <a:srgbClr val="F5F6FA"/>
                </a:solidFill>
              </a:rPr>
              <a:t>2</a:t>
            </a:r>
            <a:r>
              <a:rPr sz="1100" b="0" dirty="0">
                <a:solidFill>
                  <a:srgbClr val="F5F6FA"/>
                </a:solidFill>
              </a:rPr>
              <a:t>s</a:t>
            </a:r>
          </a:p>
        </p:txBody>
      </p:sp>
      <p:sp>
        <p:nvSpPr>
          <p:cNvPr id="68" name="!!heap_C4">
            <a:extLst>
              <a:ext uri="{FF2B5EF4-FFF2-40B4-BE49-F238E27FC236}">
                <a16:creationId xmlns:a16="http://schemas.microsoft.com/office/drawing/2014/main" id="{0F085988-459C-55E8-24A9-7550D523F94D}"/>
              </a:ext>
            </a:extLst>
          </p:cNvPr>
          <p:cNvSpPr/>
          <p:nvPr/>
        </p:nvSpPr>
        <p:spPr>
          <a:xfrm>
            <a:off x="8526780" y="3712464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5F6FA"/>
                </a:solidFill>
              </a:rPr>
              <a:t>C4</a:t>
            </a:r>
          </a:p>
          <a:p>
            <a:pPr algn="ctr"/>
            <a:r>
              <a:rPr lang="en-US" sz="1100">
                <a:solidFill>
                  <a:srgbClr val="F5F6FA"/>
                </a:solidFill>
              </a:rPr>
              <a:t>15</a:t>
            </a:r>
            <a:r>
              <a:rPr sz="1100" b="0">
                <a:solidFill>
                  <a:srgbClr val="F5F6FA"/>
                </a:solidFill>
              </a:rPr>
              <a:t>s</a:t>
            </a:r>
          </a:p>
        </p:txBody>
      </p:sp>
      <p:sp>
        <p:nvSpPr>
          <p:cNvPr id="69" name="!!heap_C3">
            <a:extLst>
              <a:ext uri="{FF2B5EF4-FFF2-40B4-BE49-F238E27FC236}">
                <a16:creationId xmlns:a16="http://schemas.microsoft.com/office/drawing/2014/main" id="{C9CE5C8F-F075-3897-3A1B-74EFFCBC76C5}"/>
              </a:ext>
            </a:extLst>
          </p:cNvPr>
          <p:cNvSpPr/>
          <p:nvPr/>
        </p:nvSpPr>
        <p:spPr>
          <a:xfrm>
            <a:off x="6903720" y="5468112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5F6FA"/>
                </a:solidFill>
              </a:rPr>
              <a:t>C3</a:t>
            </a:r>
          </a:p>
          <a:p>
            <a:pPr algn="ctr"/>
            <a:r>
              <a:rPr lang="en-US" sz="1100" dirty="0">
                <a:solidFill>
                  <a:srgbClr val="F5F6FA"/>
                </a:solidFill>
              </a:rPr>
              <a:t>38</a:t>
            </a:r>
            <a:r>
              <a:rPr sz="1100" b="0" dirty="0">
                <a:solidFill>
                  <a:srgbClr val="F5F6FA"/>
                </a:solidFill>
              </a:rPr>
              <a:t>s</a:t>
            </a:r>
          </a:p>
        </p:txBody>
      </p:sp>
      <p:sp>
        <p:nvSpPr>
          <p:cNvPr id="72" name="!!queue_chip">
            <a:extLst>
              <a:ext uri="{FF2B5EF4-FFF2-40B4-BE49-F238E27FC236}">
                <a16:creationId xmlns:a16="http://schemas.microsoft.com/office/drawing/2014/main" id="{47938FF3-6ACB-8807-CDF0-BFB1F00331B8}"/>
              </a:ext>
            </a:extLst>
          </p:cNvPr>
          <p:cNvSpPr/>
          <p:nvPr/>
        </p:nvSpPr>
        <p:spPr>
          <a:xfrm>
            <a:off x="6492240" y="1836694"/>
            <a:ext cx="1143000" cy="347472"/>
          </a:xfrm>
          <a:prstGeom prst="roundRect">
            <a:avLst/>
          </a:prstGeom>
          <a:solidFill>
            <a:srgbClr val="195052"/>
          </a:solidFill>
          <a:ln w="15240">
            <a:solidFill>
              <a:srgbClr val="6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!!queue_chip_text">
            <a:extLst>
              <a:ext uri="{FF2B5EF4-FFF2-40B4-BE49-F238E27FC236}">
                <a16:creationId xmlns:a16="http://schemas.microsoft.com/office/drawing/2014/main" id="{FC3B02CE-42DE-38FA-9DA8-C68C69A309DE}"/>
              </a:ext>
            </a:extLst>
          </p:cNvPr>
          <p:cNvSpPr txBox="1"/>
          <p:nvPr/>
        </p:nvSpPr>
        <p:spPr>
          <a:xfrm>
            <a:off x="6512560" y="1850766"/>
            <a:ext cx="10515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60EBE1"/>
                </a:solidFill>
                <a:latin typeface="Aptos Display"/>
              </a:rPr>
              <a:t>Queue</a:t>
            </a:r>
          </a:p>
        </p:txBody>
      </p:sp>
      <p:sp>
        <p:nvSpPr>
          <p:cNvPr id="74" name="!!fifo_text">
            <a:extLst>
              <a:ext uri="{FF2B5EF4-FFF2-40B4-BE49-F238E27FC236}">
                <a16:creationId xmlns:a16="http://schemas.microsoft.com/office/drawing/2014/main" id="{911B1ECA-6C24-531B-2D5F-047F7B4703B2}"/>
              </a:ext>
            </a:extLst>
          </p:cNvPr>
          <p:cNvSpPr txBox="1"/>
          <p:nvPr/>
        </p:nvSpPr>
        <p:spPr>
          <a:xfrm>
            <a:off x="6323584" y="2456090"/>
            <a:ext cx="7315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60EBE1"/>
                </a:solidFill>
                <a:latin typeface="Aptos Display"/>
              </a:rPr>
              <a:t>FIFO</a:t>
            </a:r>
          </a:p>
        </p:txBody>
      </p:sp>
      <p:sp>
        <p:nvSpPr>
          <p:cNvPr id="75" name="!!queue_C6">
            <a:extLst>
              <a:ext uri="{FF2B5EF4-FFF2-40B4-BE49-F238E27FC236}">
                <a16:creationId xmlns:a16="http://schemas.microsoft.com/office/drawing/2014/main" id="{37589713-D626-CB93-6DAB-1C7B94095901}"/>
              </a:ext>
            </a:extLst>
          </p:cNvPr>
          <p:cNvSpPr/>
          <p:nvPr/>
        </p:nvSpPr>
        <p:spPr>
          <a:xfrm>
            <a:off x="9354820" y="2432304"/>
            <a:ext cx="502920" cy="347472"/>
          </a:xfrm>
          <a:prstGeom prst="roundRect">
            <a:avLst/>
          </a:prstGeom>
          <a:solidFill>
            <a:srgbClr val="235FAF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5F6FA"/>
                </a:solidFill>
                <a:latin typeface="Aptos Display"/>
              </a:rPr>
              <a:t>C</a:t>
            </a:r>
            <a:r>
              <a:rPr lang="en-US" sz="1200" b="1" dirty="0">
                <a:solidFill>
                  <a:srgbClr val="F5F6FA"/>
                </a:solidFill>
                <a:latin typeface="Aptos Display"/>
              </a:rPr>
              <a:t>6</a:t>
            </a:r>
            <a:endParaRPr sz="1200" b="1" dirty="0">
              <a:solidFill>
                <a:srgbClr val="F5F6FA"/>
              </a:solidFill>
              <a:latin typeface="Aptos Display"/>
            </a:endParaRPr>
          </a:p>
        </p:txBody>
      </p:sp>
      <p:cxnSp>
        <p:nvCxnSpPr>
          <p:cNvPr id="76" name="!!queue_line_0">
            <a:extLst>
              <a:ext uri="{FF2B5EF4-FFF2-40B4-BE49-F238E27FC236}">
                <a16:creationId xmlns:a16="http://schemas.microsoft.com/office/drawing/2014/main" id="{FEA33C6A-9261-E5AE-5659-684450E1E44E}"/>
              </a:ext>
            </a:extLst>
          </p:cNvPr>
          <p:cNvCxnSpPr>
            <a:cxnSpLocks/>
          </p:cNvCxnSpPr>
          <p:nvPr/>
        </p:nvCxnSpPr>
        <p:spPr>
          <a:xfrm>
            <a:off x="7640320" y="2596896"/>
            <a:ext cx="594360" cy="0"/>
          </a:xfrm>
          <a:prstGeom prst="line">
            <a:avLst/>
          </a:prstGeom>
          <a:ln w="20320">
            <a:solidFill>
              <a:srgbClr val="60E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!!queue_line_1">
            <a:extLst>
              <a:ext uri="{FF2B5EF4-FFF2-40B4-BE49-F238E27FC236}">
                <a16:creationId xmlns:a16="http://schemas.microsoft.com/office/drawing/2014/main" id="{46D130B2-A3C9-E43F-73F3-C70C9292F079}"/>
              </a:ext>
            </a:extLst>
          </p:cNvPr>
          <p:cNvCxnSpPr>
            <a:cxnSpLocks/>
          </p:cNvCxnSpPr>
          <p:nvPr/>
        </p:nvCxnSpPr>
        <p:spPr>
          <a:xfrm>
            <a:off x="8737600" y="2596896"/>
            <a:ext cx="594360" cy="0"/>
          </a:xfrm>
          <a:prstGeom prst="line">
            <a:avLst/>
          </a:prstGeom>
          <a:ln w="20320">
            <a:solidFill>
              <a:srgbClr val="60E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!!queue_arrow">
            <a:extLst>
              <a:ext uri="{FF2B5EF4-FFF2-40B4-BE49-F238E27FC236}">
                <a16:creationId xmlns:a16="http://schemas.microsoft.com/office/drawing/2014/main" id="{27F910CE-BBC0-CE4F-A3F6-D38FD1ACDAA2}"/>
              </a:ext>
            </a:extLst>
          </p:cNvPr>
          <p:cNvSpPr txBox="1"/>
          <p:nvPr/>
        </p:nvSpPr>
        <p:spPr>
          <a:xfrm>
            <a:off x="10021824" y="2417617"/>
            <a:ext cx="25603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60EBE1"/>
                </a:solidFill>
                <a:latin typeface="Aptos Display"/>
              </a:rPr>
              <a:t>→</a:t>
            </a:r>
          </a:p>
        </p:txBody>
      </p:sp>
      <p:sp>
        <p:nvSpPr>
          <p:cNvPr id="81" name="!!queue_C5">
            <a:extLst>
              <a:ext uri="{FF2B5EF4-FFF2-40B4-BE49-F238E27FC236}">
                <a16:creationId xmlns:a16="http://schemas.microsoft.com/office/drawing/2014/main" id="{CB8869FF-3065-270E-EC9A-54B11FA495D5}"/>
              </a:ext>
            </a:extLst>
          </p:cNvPr>
          <p:cNvSpPr/>
          <p:nvPr/>
        </p:nvSpPr>
        <p:spPr>
          <a:xfrm>
            <a:off x="8229600" y="2423160"/>
            <a:ext cx="502920" cy="347472"/>
          </a:xfrm>
          <a:prstGeom prst="roundRect">
            <a:avLst/>
          </a:prstGeom>
          <a:solidFill>
            <a:srgbClr val="235FAF"/>
          </a:solidFill>
          <a:ln w="2540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5F6FA"/>
                </a:solidFill>
                <a:latin typeface="Aptos Display"/>
              </a:rPr>
              <a:t>C</a:t>
            </a:r>
            <a:r>
              <a:rPr lang="en-US" sz="1200" b="1" dirty="0">
                <a:solidFill>
                  <a:srgbClr val="F5F6FA"/>
                </a:solidFill>
                <a:latin typeface="Aptos Display"/>
              </a:rPr>
              <a:t>7</a:t>
            </a:r>
            <a:endParaRPr sz="1200" b="1" dirty="0">
              <a:solidFill>
                <a:srgbClr val="F5F6FA"/>
              </a:solidFill>
              <a:latin typeface="Aptos Display"/>
            </a:endParaRPr>
          </a:p>
        </p:txBody>
      </p:sp>
      <p:sp>
        <p:nvSpPr>
          <p:cNvPr id="88" name="!!heap_chip">
            <a:extLst>
              <a:ext uri="{FF2B5EF4-FFF2-40B4-BE49-F238E27FC236}">
                <a16:creationId xmlns:a16="http://schemas.microsoft.com/office/drawing/2014/main" id="{1BA1BE24-D90C-F9F2-D51B-BB02B654CD9D}"/>
              </a:ext>
            </a:extLst>
          </p:cNvPr>
          <p:cNvSpPr/>
          <p:nvPr/>
        </p:nvSpPr>
        <p:spPr>
          <a:xfrm>
            <a:off x="6510528" y="3538728"/>
            <a:ext cx="1371600" cy="347472"/>
          </a:xfrm>
          <a:prstGeom prst="roundRect">
            <a:avLst/>
          </a:prstGeom>
          <a:solidFill>
            <a:srgbClr val="483714"/>
          </a:solidFill>
          <a:ln w="1524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!!heap_chip_text">
            <a:extLst>
              <a:ext uri="{FF2B5EF4-FFF2-40B4-BE49-F238E27FC236}">
                <a16:creationId xmlns:a16="http://schemas.microsoft.com/office/drawing/2014/main" id="{46C7914C-A4A2-CDB8-9E0C-643398246025}"/>
              </a:ext>
            </a:extLst>
          </p:cNvPr>
          <p:cNvSpPr txBox="1"/>
          <p:nvPr/>
        </p:nvSpPr>
        <p:spPr>
          <a:xfrm>
            <a:off x="6556248" y="3575304"/>
            <a:ext cx="126187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CF4A"/>
                </a:solidFill>
                <a:latin typeface="Aptos Display"/>
              </a:rPr>
              <a:t>MinHeap</a:t>
            </a:r>
          </a:p>
        </p:txBody>
      </p:sp>
      <p:sp>
        <p:nvSpPr>
          <p:cNvPr id="4" name="!!queue_C8">
            <a:extLst>
              <a:ext uri="{FF2B5EF4-FFF2-40B4-BE49-F238E27FC236}">
                <a16:creationId xmlns:a16="http://schemas.microsoft.com/office/drawing/2014/main" id="{A56BA344-C0A5-EE65-DE23-B2505C35E94B}"/>
              </a:ext>
            </a:extLst>
          </p:cNvPr>
          <p:cNvSpPr/>
          <p:nvPr/>
        </p:nvSpPr>
        <p:spPr>
          <a:xfrm>
            <a:off x="7132320" y="2423160"/>
            <a:ext cx="502920" cy="347472"/>
          </a:xfrm>
          <a:prstGeom prst="roundRect">
            <a:avLst/>
          </a:prstGeom>
          <a:solidFill>
            <a:srgbClr val="235FAF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6FA"/>
                </a:solidFill>
                <a:latin typeface="Aptos Display"/>
              </a:rPr>
              <a:t>C8</a:t>
            </a:r>
          </a:p>
        </p:txBody>
      </p:sp>
      <p:sp>
        <p:nvSpPr>
          <p:cNvPr id="8" name="!!heap_C5">
            <a:extLst>
              <a:ext uri="{FF2B5EF4-FFF2-40B4-BE49-F238E27FC236}">
                <a16:creationId xmlns:a16="http://schemas.microsoft.com/office/drawing/2014/main" id="{7CE20B96-5D6D-A0D6-B42C-1EE6F9050D98}"/>
              </a:ext>
            </a:extLst>
          </p:cNvPr>
          <p:cNvSpPr/>
          <p:nvPr/>
        </p:nvSpPr>
        <p:spPr>
          <a:xfrm>
            <a:off x="9372600" y="4608576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6FA"/>
                </a:solidFill>
              </a:rPr>
              <a:t>C5</a:t>
            </a:r>
          </a:p>
          <a:p>
            <a:pPr algn="ctr"/>
            <a:r>
              <a:rPr sz="1100" b="0">
                <a:solidFill>
                  <a:srgbClr val="F5F6FA"/>
                </a:solidFill>
              </a:rPr>
              <a:t>28s</a:t>
            </a:r>
          </a:p>
        </p:txBody>
      </p:sp>
      <p:sp>
        <p:nvSpPr>
          <p:cNvPr id="26" name="!!heap_C6">
            <a:extLst>
              <a:ext uri="{FF2B5EF4-FFF2-40B4-BE49-F238E27FC236}">
                <a16:creationId xmlns:a16="http://schemas.microsoft.com/office/drawing/2014/main" id="{30696475-5CB3-02B3-FBE3-F104C9D399C8}"/>
              </a:ext>
            </a:extLst>
          </p:cNvPr>
          <p:cNvSpPr/>
          <p:nvPr/>
        </p:nvSpPr>
        <p:spPr>
          <a:xfrm>
            <a:off x="10021824" y="7886700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6FA"/>
                </a:solidFill>
              </a:rPr>
              <a:t>C6</a:t>
            </a:r>
          </a:p>
          <a:p>
            <a:pPr algn="ctr"/>
            <a:r>
              <a:rPr sz="1100" b="0">
                <a:solidFill>
                  <a:srgbClr val="F5F6FA"/>
                </a:solidFill>
              </a:rPr>
              <a:t>30s</a:t>
            </a:r>
          </a:p>
        </p:txBody>
      </p:sp>
      <p:sp>
        <p:nvSpPr>
          <p:cNvPr id="34" name="!!queue_C9">
            <a:extLst>
              <a:ext uri="{FF2B5EF4-FFF2-40B4-BE49-F238E27FC236}">
                <a16:creationId xmlns:a16="http://schemas.microsoft.com/office/drawing/2014/main" id="{8383C425-522D-21FC-365A-87A074F32AD4}"/>
              </a:ext>
            </a:extLst>
          </p:cNvPr>
          <p:cNvSpPr/>
          <p:nvPr/>
        </p:nvSpPr>
        <p:spPr>
          <a:xfrm>
            <a:off x="-1854903" y="2423160"/>
            <a:ext cx="502920" cy="347472"/>
          </a:xfrm>
          <a:prstGeom prst="roundRect">
            <a:avLst/>
          </a:prstGeom>
          <a:solidFill>
            <a:srgbClr val="235FAF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6FA"/>
                </a:solidFill>
                <a:latin typeface="Aptos Display"/>
              </a:rPr>
              <a:t>C9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6" name="Slide Zoom 35">
                <a:extLst>
                  <a:ext uri="{FF2B5EF4-FFF2-40B4-BE49-F238E27FC236}">
                    <a16:creationId xmlns:a16="http://schemas.microsoft.com/office/drawing/2014/main" id="{366D73A0-7EA0-31B9-1BBE-1DAE1D20DC6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0693936"/>
                  </p:ext>
                </p:extLst>
              </p:nvPr>
            </p:nvGraphicFramePr>
            <p:xfrm>
              <a:off x="-3118338" y="-4766076"/>
              <a:ext cx="3048000" cy="1714500"/>
            </p:xfrm>
            <a:graphic>
              <a:graphicData uri="http://schemas.microsoft.com/office/powerpoint/2016/slidezoom">
                <pslz:sldZm>
                  <pslz:sldZmObj sldId="269" cId="2911391871">
                    <pslz:zmPr id="{6EF3CA5F-D519-4D27-90E7-5578CDE75D8B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6" name="Slide Zoom 35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66D73A0-7EA0-31B9-1BBE-1DAE1D20DC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3118338" y="-4766076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2AC25769-264D-D42E-CEDA-1B77FCCC7FFC}"/>
              </a:ext>
            </a:extLst>
          </p:cNvPr>
          <p:cNvSpPr txBox="1"/>
          <p:nvPr/>
        </p:nvSpPr>
        <p:spPr>
          <a:xfrm>
            <a:off x="2569036" y="1417320"/>
            <a:ext cx="1079847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63E6BE"/>
                </a:solidFill>
                <a:latin typeface="Aptos"/>
              </a:rPr>
              <a:t>GAMEPLAY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8FC94-BC9B-3F74-D97C-77F477DA8B79}"/>
              </a:ext>
            </a:extLst>
          </p:cNvPr>
          <p:cNvSpPr txBox="1"/>
          <p:nvPr/>
        </p:nvSpPr>
        <p:spPr>
          <a:xfrm>
            <a:off x="8442128" y="1417320"/>
            <a:ext cx="1180836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400" b="1" dirty="0">
                <a:solidFill>
                  <a:srgbClr val="FFD666"/>
                </a:solidFill>
                <a:latin typeface="Aptos"/>
              </a:rPr>
              <a:t>ALGORITHM</a:t>
            </a:r>
            <a:endParaRPr sz="1400" b="1" dirty="0">
              <a:solidFill>
                <a:srgbClr val="FFD66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11391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D9C2A-C7DC-1375-EA4E-E8CB28CFC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9353E737-1825-49DF-2202-6E95D2599924}"/>
              </a:ext>
            </a:extLst>
          </p:cNvPr>
          <p:cNvSpPr/>
          <p:nvPr/>
        </p:nvSpPr>
        <p:spPr>
          <a:xfrm>
            <a:off x="6172200" y="1234440"/>
            <a:ext cx="5394960" cy="507492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295BE8-4A3C-99C4-FD59-E5448CFB3A9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0FF488-A761-F3D2-CFE4-D37D35EDED76}"/>
              </a:ext>
            </a:extLst>
          </p:cNvPr>
          <p:cNvSpPr txBox="1"/>
          <p:nvPr/>
        </p:nvSpPr>
        <p:spPr>
          <a:xfrm>
            <a:off x="502920" y="274320"/>
            <a:ext cx="2041393" cy="492443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 dirty="0">
                <a:solidFill>
                  <a:srgbClr val="FFD666"/>
                </a:solidFill>
                <a:latin typeface="Aptos"/>
              </a:rPr>
              <a:t>3. </a:t>
            </a:r>
            <a:r>
              <a:rPr lang="en-US" sz="2600" b="1" dirty="0">
                <a:solidFill>
                  <a:srgbClr val="FFD666"/>
                </a:solidFill>
                <a:latin typeface="Aptos"/>
              </a:rPr>
              <a:t>Customer</a:t>
            </a:r>
            <a:endParaRPr sz="2600" b="1" dirty="0">
              <a:solidFill>
                <a:srgbClr val="FFD666"/>
              </a:solidFill>
              <a:latin typeface="Apto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B1E1CF0-A196-25C1-86A1-7DC098F3F04C}"/>
              </a:ext>
            </a:extLst>
          </p:cNvPr>
          <p:cNvSpPr/>
          <p:nvPr/>
        </p:nvSpPr>
        <p:spPr>
          <a:xfrm>
            <a:off x="594360" y="1234440"/>
            <a:ext cx="5303520" cy="507492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6BC0E-705E-A2F2-DC97-5EE339EA25BC}"/>
              </a:ext>
            </a:extLst>
          </p:cNvPr>
          <p:cNvSpPr txBox="1"/>
          <p:nvPr/>
        </p:nvSpPr>
        <p:spPr>
          <a:xfrm>
            <a:off x="822960" y="1709928"/>
            <a:ext cx="4572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3F5F7"/>
                </a:solidFill>
                <a:latin typeface="Aptos"/>
              </a:rPr>
              <a:t>Bài toán trong game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F6DD57-F97A-E522-D020-3447654A2122}"/>
              </a:ext>
            </a:extLst>
          </p:cNvPr>
          <p:cNvSpPr txBox="1"/>
          <p:nvPr/>
        </p:nvSpPr>
        <p:spPr>
          <a:xfrm>
            <a:off x="914400" y="2105609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D666"/>
                </a:solidFill>
                <a:latin typeface="Aptos"/>
              </a:rPr>
              <a:t>Hàng chờ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F6B8A16-E83A-20BF-2B7D-28AB8043A6CF}"/>
              </a:ext>
            </a:extLst>
          </p:cNvPr>
          <p:cNvSpPr/>
          <p:nvPr/>
        </p:nvSpPr>
        <p:spPr>
          <a:xfrm>
            <a:off x="914400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0A911D6-7869-D457-7070-749A11ED5CFA}"/>
              </a:ext>
            </a:extLst>
          </p:cNvPr>
          <p:cNvSpPr/>
          <p:nvPr/>
        </p:nvSpPr>
        <p:spPr>
          <a:xfrm>
            <a:off x="1481328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8FBAECF-2637-1DF4-23A3-AF54127A5F9E}"/>
              </a:ext>
            </a:extLst>
          </p:cNvPr>
          <p:cNvSpPr/>
          <p:nvPr/>
        </p:nvSpPr>
        <p:spPr>
          <a:xfrm>
            <a:off x="2048256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537F77E-4725-CE84-09CC-C00C4FDECE20}"/>
              </a:ext>
            </a:extLst>
          </p:cNvPr>
          <p:cNvSpPr/>
          <p:nvPr/>
        </p:nvSpPr>
        <p:spPr>
          <a:xfrm>
            <a:off x="2615184" y="2425649"/>
            <a:ext cx="411480" cy="384048"/>
          </a:xfrm>
          <a:prstGeom prst="roundRect">
            <a:avLst/>
          </a:prstGeom>
          <a:solidFill>
            <a:srgbClr val="5EA8FF"/>
          </a:solidFill>
          <a:ln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41820"/>
                </a:solidFill>
              </a:rPr>
              <a:t>C4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0FF1E8-91EC-0703-7D60-11E07E1E1BDC}"/>
              </a:ext>
            </a:extLst>
          </p:cNvPr>
          <p:cNvSpPr txBox="1"/>
          <p:nvPr/>
        </p:nvSpPr>
        <p:spPr>
          <a:xfrm>
            <a:off x="914400" y="2928569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D666"/>
                </a:solidFill>
                <a:latin typeface="Aptos"/>
              </a:rPr>
              <a:t>Ghế tại quầy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DBD20F4-79DE-CC0A-A507-A67F9F7E3F0D}"/>
              </a:ext>
            </a:extLst>
          </p:cNvPr>
          <p:cNvSpPr/>
          <p:nvPr/>
        </p:nvSpPr>
        <p:spPr>
          <a:xfrm>
            <a:off x="914400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B04497-8275-2235-605B-40953B872226}"/>
              </a:ext>
            </a:extLst>
          </p:cNvPr>
          <p:cNvSpPr txBox="1"/>
          <p:nvPr/>
        </p:nvSpPr>
        <p:spPr>
          <a:xfrm>
            <a:off x="1005840" y="3294329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F3F5F7"/>
                </a:solidFill>
                <a:latin typeface="Aptos"/>
              </a:rPr>
              <a:t>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2F704B6-171C-FBE6-8A8B-FB52D76EC991}"/>
              </a:ext>
            </a:extLst>
          </p:cNvPr>
          <p:cNvSpPr/>
          <p:nvPr/>
        </p:nvSpPr>
        <p:spPr>
          <a:xfrm>
            <a:off x="1783080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A6D7D2-9817-C663-7494-A15B471980DA}"/>
              </a:ext>
            </a:extLst>
          </p:cNvPr>
          <p:cNvSpPr txBox="1"/>
          <p:nvPr/>
        </p:nvSpPr>
        <p:spPr>
          <a:xfrm>
            <a:off x="1874520" y="3301187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3F5F7"/>
                </a:solidFill>
                <a:latin typeface="Aptos"/>
              </a:rPr>
              <a:t>B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34501C9-B0BA-D3AB-956D-A38BF46001F2}"/>
              </a:ext>
            </a:extLst>
          </p:cNvPr>
          <p:cNvSpPr/>
          <p:nvPr/>
        </p:nvSpPr>
        <p:spPr>
          <a:xfrm>
            <a:off x="2651760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04A9DC-83A6-45A6-3805-8301FED52992}"/>
              </a:ext>
            </a:extLst>
          </p:cNvPr>
          <p:cNvSpPr txBox="1"/>
          <p:nvPr/>
        </p:nvSpPr>
        <p:spPr>
          <a:xfrm>
            <a:off x="2743200" y="3303473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F3F5F7"/>
                </a:solidFill>
                <a:latin typeface="Aptos"/>
              </a:rPr>
              <a:t>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84AE16C-1879-B317-FDC3-9CA1A32DF2E1}"/>
              </a:ext>
            </a:extLst>
          </p:cNvPr>
          <p:cNvSpPr/>
          <p:nvPr/>
        </p:nvSpPr>
        <p:spPr>
          <a:xfrm>
            <a:off x="3520439" y="3248609"/>
            <a:ext cx="64008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850403-D93E-0EDB-00BF-B0A88229BBAD}"/>
              </a:ext>
            </a:extLst>
          </p:cNvPr>
          <p:cNvSpPr txBox="1"/>
          <p:nvPr/>
        </p:nvSpPr>
        <p:spPr>
          <a:xfrm>
            <a:off x="3611879" y="3304997"/>
            <a:ext cx="4572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F3F5F7"/>
                </a:solidFill>
                <a:latin typeface="Aptos"/>
              </a:rPr>
              <a:t>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6A896F-89B7-4DC7-B625-009D80E3AAA3}"/>
              </a:ext>
            </a:extLst>
          </p:cNvPr>
          <p:cNvSpPr txBox="1"/>
          <p:nvPr/>
        </p:nvSpPr>
        <p:spPr>
          <a:xfrm>
            <a:off x="822960" y="3992939"/>
            <a:ext cx="46634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 dirty="0" err="1">
                <a:solidFill>
                  <a:srgbClr val="F3F5F7"/>
                </a:solidFill>
                <a:latin typeface="Aptos"/>
              </a:rPr>
              <a:t>Cách</a:t>
            </a:r>
            <a:r>
              <a:rPr sz="1800" b="1" dirty="0">
                <a:solidFill>
                  <a:srgbClr val="F3F5F7"/>
                </a:solidFill>
                <a:latin typeface="Aptos"/>
              </a:rPr>
              <a:t> game </a:t>
            </a:r>
            <a:r>
              <a:rPr sz="1800" b="1" dirty="0" err="1">
                <a:solidFill>
                  <a:srgbClr val="F3F5F7"/>
                </a:solidFill>
                <a:latin typeface="Aptos"/>
              </a:rPr>
              <a:t>giải</a:t>
            </a:r>
            <a:r>
              <a:rPr sz="1800" b="1" dirty="0">
                <a:solidFill>
                  <a:srgbClr val="F3F5F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F3F5F7"/>
                </a:solidFill>
                <a:latin typeface="Aptos"/>
              </a:rPr>
              <a:t>quyết</a:t>
            </a:r>
            <a:endParaRPr sz="1800" b="1" dirty="0">
              <a:solidFill>
                <a:srgbClr val="F3F5F7"/>
              </a:solidFill>
              <a:latin typeface="Aptos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879D37F-800E-1360-A293-257B57CD47D5}"/>
              </a:ext>
            </a:extLst>
          </p:cNvPr>
          <p:cNvSpPr/>
          <p:nvPr/>
        </p:nvSpPr>
        <p:spPr>
          <a:xfrm>
            <a:off x="891540" y="4645152"/>
            <a:ext cx="2011680" cy="82296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D007B2-B071-DD2A-FB7E-4374BC09D3BD}"/>
              </a:ext>
            </a:extLst>
          </p:cNvPr>
          <p:cNvSpPr txBox="1"/>
          <p:nvPr/>
        </p:nvSpPr>
        <p:spPr>
          <a:xfrm>
            <a:off x="1028700" y="4782312"/>
            <a:ext cx="1645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63E6BE"/>
                </a:solidFill>
                <a:latin typeface="Aptos"/>
              </a:rPr>
              <a:t>Queue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D97855-3353-19D9-CF9F-AB1AB77AC474}"/>
              </a:ext>
            </a:extLst>
          </p:cNvPr>
          <p:cNvSpPr txBox="1"/>
          <p:nvPr/>
        </p:nvSpPr>
        <p:spPr>
          <a:xfrm>
            <a:off x="1028700" y="5038344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F3F5F7"/>
                </a:solidFill>
                <a:latin typeface="Aptos"/>
              </a:rPr>
              <a:t>Khách chờ ngoài cửa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15DDAB2-68A8-132E-40C9-E3221B05D1FC}"/>
              </a:ext>
            </a:extLst>
          </p:cNvPr>
          <p:cNvSpPr/>
          <p:nvPr/>
        </p:nvSpPr>
        <p:spPr>
          <a:xfrm>
            <a:off x="3177540" y="4645152"/>
            <a:ext cx="2331720" cy="82296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72930C-ADAD-0638-9105-8A631F98B59D}"/>
              </a:ext>
            </a:extLst>
          </p:cNvPr>
          <p:cNvSpPr txBox="1"/>
          <p:nvPr/>
        </p:nvSpPr>
        <p:spPr>
          <a:xfrm>
            <a:off x="3332988" y="4782312"/>
            <a:ext cx="19202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FD666"/>
                </a:solidFill>
                <a:latin typeface="Aptos"/>
              </a:rPr>
              <a:t>MinHeap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B309A7-F08B-D745-6CC4-D4D5FCA594ED}"/>
              </a:ext>
            </a:extLst>
          </p:cNvPr>
          <p:cNvSpPr txBox="1"/>
          <p:nvPr/>
        </p:nvSpPr>
        <p:spPr>
          <a:xfrm>
            <a:off x="3332988" y="5038344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F3F5F7"/>
                </a:solidFill>
                <a:latin typeface="Aptos"/>
              </a:rPr>
              <a:t>Khách đang ngồi tại quầy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086F40-82E8-8191-0D9B-AB1D543D8BD4}"/>
              </a:ext>
            </a:extLst>
          </p:cNvPr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  <p:cxnSp>
        <p:nvCxnSpPr>
          <p:cNvPr id="63" name="!!heap_line_left">
            <a:extLst>
              <a:ext uri="{FF2B5EF4-FFF2-40B4-BE49-F238E27FC236}">
                <a16:creationId xmlns:a16="http://schemas.microsoft.com/office/drawing/2014/main" id="{4FB811A0-10DF-8D5F-9908-31D1E7FEE5EC}"/>
              </a:ext>
            </a:extLst>
          </p:cNvPr>
          <p:cNvCxnSpPr/>
          <p:nvPr/>
        </p:nvCxnSpPr>
        <p:spPr>
          <a:xfrm flipH="1">
            <a:off x="7818120" y="4224528"/>
            <a:ext cx="914400" cy="38404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!!heap_line_right">
            <a:extLst>
              <a:ext uri="{FF2B5EF4-FFF2-40B4-BE49-F238E27FC236}">
                <a16:creationId xmlns:a16="http://schemas.microsoft.com/office/drawing/2014/main" id="{1DEDBE0E-9862-ACD2-BBB5-BB0B6E65BE26}"/>
              </a:ext>
            </a:extLst>
          </p:cNvPr>
          <p:cNvCxnSpPr/>
          <p:nvPr/>
        </p:nvCxnSpPr>
        <p:spPr>
          <a:xfrm>
            <a:off x="9006840" y="4224528"/>
            <a:ext cx="731520" cy="38404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!!heap_line_ll">
            <a:extLst>
              <a:ext uri="{FF2B5EF4-FFF2-40B4-BE49-F238E27FC236}">
                <a16:creationId xmlns:a16="http://schemas.microsoft.com/office/drawing/2014/main" id="{6566DEFB-F06A-257E-ABE0-35FEF3125BB8}"/>
              </a:ext>
            </a:extLst>
          </p:cNvPr>
          <p:cNvCxnSpPr/>
          <p:nvPr/>
        </p:nvCxnSpPr>
        <p:spPr>
          <a:xfrm flipH="1">
            <a:off x="7178039" y="5129784"/>
            <a:ext cx="457201" cy="33832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!!heap_C1">
            <a:extLst>
              <a:ext uri="{FF2B5EF4-FFF2-40B4-BE49-F238E27FC236}">
                <a16:creationId xmlns:a16="http://schemas.microsoft.com/office/drawing/2014/main" id="{E2976808-F77C-35E0-A631-0F8D4649C9B4}"/>
              </a:ext>
            </a:extLst>
          </p:cNvPr>
          <p:cNvSpPr/>
          <p:nvPr/>
        </p:nvSpPr>
        <p:spPr>
          <a:xfrm>
            <a:off x="7452360" y="4608576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5F6FA"/>
                </a:solidFill>
              </a:rPr>
              <a:t>C1</a:t>
            </a:r>
          </a:p>
          <a:p>
            <a:pPr algn="ctr"/>
            <a:r>
              <a:rPr sz="1100" b="0" dirty="0">
                <a:solidFill>
                  <a:srgbClr val="F5F6FA"/>
                </a:solidFill>
              </a:rPr>
              <a:t>2</a:t>
            </a:r>
            <a:r>
              <a:rPr lang="en-US" sz="1100" dirty="0">
                <a:solidFill>
                  <a:srgbClr val="F5F6FA"/>
                </a:solidFill>
              </a:rPr>
              <a:t>0</a:t>
            </a:r>
            <a:r>
              <a:rPr sz="1100" b="0" dirty="0">
                <a:solidFill>
                  <a:srgbClr val="F5F6FA"/>
                </a:solidFill>
              </a:rPr>
              <a:t>s</a:t>
            </a:r>
          </a:p>
        </p:txBody>
      </p:sp>
      <p:sp>
        <p:nvSpPr>
          <p:cNvPr id="68" name="!!heap_C4">
            <a:extLst>
              <a:ext uri="{FF2B5EF4-FFF2-40B4-BE49-F238E27FC236}">
                <a16:creationId xmlns:a16="http://schemas.microsoft.com/office/drawing/2014/main" id="{E2AA3983-29B4-04EF-8138-3D506D46431F}"/>
              </a:ext>
            </a:extLst>
          </p:cNvPr>
          <p:cNvSpPr/>
          <p:nvPr/>
        </p:nvSpPr>
        <p:spPr>
          <a:xfrm>
            <a:off x="8526780" y="3712464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5F6FA"/>
                </a:solidFill>
              </a:rPr>
              <a:t>C4</a:t>
            </a:r>
          </a:p>
          <a:p>
            <a:pPr algn="ctr"/>
            <a:r>
              <a:rPr lang="en-US" sz="1100" dirty="0">
                <a:solidFill>
                  <a:srgbClr val="F5F6FA"/>
                </a:solidFill>
              </a:rPr>
              <a:t>10</a:t>
            </a:r>
            <a:r>
              <a:rPr sz="1100" b="0" dirty="0">
                <a:solidFill>
                  <a:srgbClr val="F5F6FA"/>
                </a:solidFill>
              </a:rPr>
              <a:t>s</a:t>
            </a:r>
          </a:p>
        </p:txBody>
      </p:sp>
      <p:sp>
        <p:nvSpPr>
          <p:cNvPr id="69" name="!!heap_C3">
            <a:extLst>
              <a:ext uri="{FF2B5EF4-FFF2-40B4-BE49-F238E27FC236}">
                <a16:creationId xmlns:a16="http://schemas.microsoft.com/office/drawing/2014/main" id="{5E3C3714-802B-C0CE-C38C-F0D0810212C7}"/>
              </a:ext>
            </a:extLst>
          </p:cNvPr>
          <p:cNvSpPr/>
          <p:nvPr/>
        </p:nvSpPr>
        <p:spPr>
          <a:xfrm>
            <a:off x="6903720" y="5468112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5F6FA"/>
                </a:solidFill>
              </a:rPr>
              <a:t>C3</a:t>
            </a:r>
          </a:p>
          <a:p>
            <a:pPr algn="ctr"/>
            <a:r>
              <a:rPr lang="en-US" sz="1100" dirty="0">
                <a:solidFill>
                  <a:srgbClr val="F5F6FA"/>
                </a:solidFill>
              </a:rPr>
              <a:t>35</a:t>
            </a:r>
            <a:r>
              <a:rPr sz="1100" b="0" dirty="0">
                <a:solidFill>
                  <a:srgbClr val="F5F6FA"/>
                </a:solidFill>
              </a:rPr>
              <a:t>s</a:t>
            </a:r>
          </a:p>
        </p:txBody>
      </p:sp>
      <p:sp>
        <p:nvSpPr>
          <p:cNvPr id="72" name="!!queue_chip">
            <a:extLst>
              <a:ext uri="{FF2B5EF4-FFF2-40B4-BE49-F238E27FC236}">
                <a16:creationId xmlns:a16="http://schemas.microsoft.com/office/drawing/2014/main" id="{F63ED85B-70B3-C581-0680-9DFBAF4E0EFC}"/>
              </a:ext>
            </a:extLst>
          </p:cNvPr>
          <p:cNvSpPr/>
          <p:nvPr/>
        </p:nvSpPr>
        <p:spPr>
          <a:xfrm>
            <a:off x="6492240" y="1836694"/>
            <a:ext cx="1143000" cy="347472"/>
          </a:xfrm>
          <a:prstGeom prst="roundRect">
            <a:avLst/>
          </a:prstGeom>
          <a:solidFill>
            <a:srgbClr val="195052"/>
          </a:solidFill>
          <a:ln w="15240">
            <a:solidFill>
              <a:srgbClr val="6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!!queue_chip_text">
            <a:extLst>
              <a:ext uri="{FF2B5EF4-FFF2-40B4-BE49-F238E27FC236}">
                <a16:creationId xmlns:a16="http://schemas.microsoft.com/office/drawing/2014/main" id="{E9C2EA5C-6AA9-BE06-B317-9C23EC5C69AA}"/>
              </a:ext>
            </a:extLst>
          </p:cNvPr>
          <p:cNvSpPr txBox="1"/>
          <p:nvPr/>
        </p:nvSpPr>
        <p:spPr>
          <a:xfrm>
            <a:off x="6512560" y="1850766"/>
            <a:ext cx="10515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60EBE1"/>
                </a:solidFill>
                <a:latin typeface="Aptos Display"/>
              </a:rPr>
              <a:t>Queue</a:t>
            </a:r>
          </a:p>
        </p:txBody>
      </p:sp>
      <p:sp>
        <p:nvSpPr>
          <p:cNvPr id="75" name="!!queue_C6">
            <a:extLst>
              <a:ext uri="{FF2B5EF4-FFF2-40B4-BE49-F238E27FC236}">
                <a16:creationId xmlns:a16="http://schemas.microsoft.com/office/drawing/2014/main" id="{D64E8191-354F-7D1D-9745-F7477FB1F15B}"/>
              </a:ext>
            </a:extLst>
          </p:cNvPr>
          <p:cNvSpPr/>
          <p:nvPr/>
        </p:nvSpPr>
        <p:spPr>
          <a:xfrm>
            <a:off x="10328656" y="2432304"/>
            <a:ext cx="502920" cy="347472"/>
          </a:xfrm>
          <a:prstGeom prst="roundRect">
            <a:avLst/>
          </a:prstGeom>
          <a:solidFill>
            <a:srgbClr val="235FAF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5F6FA"/>
                </a:solidFill>
                <a:latin typeface="Aptos Display"/>
              </a:rPr>
              <a:t>C</a:t>
            </a:r>
            <a:r>
              <a:rPr lang="en-US" sz="1200" b="1" dirty="0">
                <a:solidFill>
                  <a:srgbClr val="F5F6FA"/>
                </a:solidFill>
                <a:latin typeface="Aptos Display"/>
              </a:rPr>
              <a:t>6</a:t>
            </a:r>
            <a:endParaRPr sz="1200" b="1" dirty="0">
              <a:solidFill>
                <a:srgbClr val="F5F6FA"/>
              </a:solidFill>
              <a:latin typeface="Aptos Display"/>
            </a:endParaRPr>
          </a:p>
        </p:txBody>
      </p:sp>
      <p:cxnSp>
        <p:nvCxnSpPr>
          <p:cNvPr id="76" name="!!queue_line_0">
            <a:extLst>
              <a:ext uri="{FF2B5EF4-FFF2-40B4-BE49-F238E27FC236}">
                <a16:creationId xmlns:a16="http://schemas.microsoft.com/office/drawing/2014/main" id="{28AB998C-0005-ECAF-B7C3-961BB3FCAAEC}"/>
              </a:ext>
            </a:extLst>
          </p:cNvPr>
          <p:cNvCxnSpPr>
            <a:cxnSpLocks/>
          </p:cNvCxnSpPr>
          <p:nvPr/>
        </p:nvCxnSpPr>
        <p:spPr>
          <a:xfrm>
            <a:off x="7640320" y="2596896"/>
            <a:ext cx="594360" cy="0"/>
          </a:xfrm>
          <a:prstGeom prst="line">
            <a:avLst/>
          </a:prstGeom>
          <a:ln w="20320">
            <a:solidFill>
              <a:srgbClr val="60E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!!queue_line_1">
            <a:extLst>
              <a:ext uri="{FF2B5EF4-FFF2-40B4-BE49-F238E27FC236}">
                <a16:creationId xmlns:a16="http://schemas.microsoft.com/office/drawing/2014/main" id="{ADECA31E-442D-DA40-5267-CE703EF029E1}"/>
              </a:ext>
            </a:extLst>
          </p:cNvPr>
          <p:cNvCxnSpPr>
            <a:cxnSpLocks/>
          </p:cNvCxnSpPr>
          <p:nvPr/>
        </p:nvCxnSpPr>
        <p:spPr>
          <a:xfrm>
            <a:off x="8737600" y="2596896"/>
            <a:ext cx="594360" cy="0"/>
          </a:xfrm>
          <a:prstGeom prst="line">
            <a:avLst/>
          </a:prstGeom>
          <a:ln w="20320">
            <a:solidFill>
              <a:srgbClr val="60E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!!queue_arrow">
            <a:extLst>
              <a:ext uri="{FF2B5EF4-FFF2-40B4-BE49-F238E27FC236}">
                <a16:creationId xmlns:a16="http://schemas.microsoft.com/office/drawing/2014/main" id="{7B7FDBB5-CB88-AFD9-31CB-757DA8B3404D}"/>
              </a:ext>
            </a:extLst>
          </p:cNvPr>
          <p:cNvSpPr txBox="1"/>
          <p:nvPr/>
        </p:nvSpPr>
        <p:spPr>
          <a:xfrm>
            <a:off x="10021824" y="2417617"/>
            <a:ext cx="25603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60EBE1"/>
                </a:solidFill>
                <a:latin typeface="Aptos Display"/>
              </a:rPr>
              <a:t>→</a:t>
            </a:r>
          </a:p>
        </p:txBody>
      </p:sp>
      <p:sp>
        <p:nvSpPr>
          <p:cNvPr id="81" name="!!queue_C5">
            <a:extLst>
              <a:ext uri="{FF2B5EF4-FFF2-40B4-BE49-F238E27FC236}">
                <a16:creationId xmlns:a16="http://schemas.microsoft.com/office/drawing/2014/main" id="{AD5DCE93-6A6C-7B86-D1EF-07658919DED8}"/>
              </a:ext>
            </a:extLst>
          </p:cNvPr>
          <p:cNvSpPr/>
          <p:nvPr/>
        </p:nvSpPr>
        <p:spPr>
          <a:xfrm>
            <a:off x="9326880" y="2423160"/>
            <a:ext cx="502920" cy="347472"/>
          </a:xfrm>
          <a:prstGeom prst="roundRect">
            <a:avLst/>
          </a:prstGeom>
          <a:solidFill>
            <a:srgbClr val="235FAF"/>
          </a:solidFill>
          <a:ln w="2540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5F6FA"/>
                </a:solidFill>
                <a:latin typeface="Aptos Display"/>
              </a:rPr>
              <a:t>C</a:t>
            </a:r>
            <a:r>
              <a:rPr lang="en-US" sz="1200" b="1" dirty="0">
                <a:solidFill>
                  <a:srgbClr val="F5F6FA"/>
                </a:solidFill>
                <a:latin typeface="Aptos Display"/>
              </a:rPr>
              <a:t>7</a:t>
            </a:r>
            <a:endParaRPr sz="1200" b="1" dirty="0">
              <a:solidFill>
                <a:srgbClr val="F5F6FA"/>
              </a:solidFill>
              <a:latin typeface="Aptos Display"/>
            </a:endParaRPr>
          </a:p>
        </p:txBody>
      </p:sp>
      <p:sp>
        <p:nvSpPr>
          <p:cNvPr id="88" name="!!heap_chip">
            <a:extLst>
              <a:ext uri="{FF2B5EF4-FFF2-40B4-BE49-F238E27FC236}">
                <a16:creationId xmlns:a16="http://schemas.microsoft.com/office/drawing/2014/main" id="{EE55DB47-3577-FDF6-DA12-9DD653D48D4B}"/>
              </a:ext>
            </a:extLst>
          </p:cNvPr>
          <p:cNvSpPr/>
          <p:nvPr/>
        </p:nvSpPr>
        <p:spPr>
          <a:xfrm>
            <a:off x="6510528" y="3538728"/>
            <a:ext cx="1371600" cy="347472"/>
          </a:xfrm>
          <a:prstGeom prst="roundRect">
            <a:avLst/>
          </a:prstGeom>
          <a:solidFill>
            <a:srgbClr val="483714"/>
          </a:solidFill>
          <a:ln w="1524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!!heap_chip_text">
            <a:extLst>
              <a:ext uri="{FF2B5EF4-FFF2-40B4-BE49-F238E27FC236}">
                <a16:creationId xmlns:a16="http://schemas.microsoft.com/office/drawing/2014/main" id="{8ED253DD-5FA9-4659-8880-CE891C0873EA}"/>
              </a:ext>
            </a:extLst>
          </p:cNvPr>
          <p:cNvSpPr txBox="1"/>
          <p:nvPr/>
        </p:nvSpPr>
        <p:spPr>
          <a:xfrm>
            <a:off x="6556248" y="3575304"/>
            <a:ext cx="126187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CF4A"/>
                </a:solidFill>
                <a:latin typeface="Aptos Display"/>
              </a:rPr>
              <a:t>MinHeap</a:t>
            </a:r>
          </a:p>
        </p:txBody>
      </p:sp>
      <p:sp>
        <p:nvSpPr>
          <p:cNvPr id="4" name="!!queue_C8">
            <a:extLst>
              <a:ext uri="{FF2B5EF4-FFF2-40B4-BE49-F238E27FC236}">
                <a16:creationId xmlns:a16="http://schemas.microsoft.com/office/drawing/2014/main" id="{C5E5778E-328C-D126-A45D-C74E778872AB}"/>
              </a:ext>
            </a:extLst>
          </p:cNvPr>
          <p:cNvSpPr/>
          <p:nvPr/>
        </p:nvSpPr>
        <p:spPr>
          <a:xfrm>
            <a:off x="8229600" y="2423160"/>
            <a:ext cx="502920" cy="347472"/>
          </a:xfrm>
          <a:prstGeom prst="roundRect">
            <a:avLst/>
          </a:prstGeom>
          <a:solidFill>
            <a:srgbClr val="235FAF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6FA"/>
                </a:solidFill>
                <a:latin typeface="Aptos Display"/>
              </a:rPr>
              <a:t>C8</a:t>
            </a:r>
          </a:p>
        </p:txBody>
      </p:sp>
      <p:sp>
        <p:nvSpPr>
          <p:cNvPr id="8" name="!!heap_C5">
            <a:extLst>
              <a:ext uri="{FF2B5EF4-FFF2-40B4-BE49-F238E27FC236}">
                <a16:creationId xmlns:a16="http://schemas.microsoft.com/office/drawing/2014/main" id="{F0B63437-4B32-D036-BDD1-EE6A42BB9E48}"/>
              </a:ext>
            </a:extLst>
          </p:cNvPr>
          <p:cNvSpPr/>
          <p:nvPr/>
        </p:nvSpPr>
        <p:spPr>
          <a:xfrm>
            <a:off x="9372600" y="4608576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5F6FA"/>
                </a:solidFill>
              </a:rPr>
              <a:t>C5</a:t>
            </a:r>
          </a:p>
          <a:p>
            <a:pPr algn="ctr"/>
            <a:r>
              <a:rPr sz="1100" b="0" dirty="0">
                <a:solidFill>
                  <a:srgbClr val="F5F6FA"/>
                </a:solidFill>
              </a:rPr>
              <a:t>2</a:t>
            </a:r>
            <a:r>
              <a:rPr lang="en-US" sz="1100" b="0" dirty="0">
                <a:solidFill>
                  <a:srgbClr val="F5F6FA"/>
                </a:solidFill>
              </a:rPr>
              <a:t>4</a:t>
            </a:r>
            <a:r>
              <a:rPr sz="1100" b="0" dirty="0">
                <a:solidFill>
                  <a:srgbClr val="F5F6FA"/>
                </a:solidFill>
              </a:rPr>
              <a:t>s</a:t>
            </a:r>
          </a:p>
        </p:txBody>
      </p:sp>
      <p:sp>
        <p:nvSpPr>
          <p:cNvPr id="26" name="!!queue_C9">
            <a:extLst>
              <a:ext uri="{FF2B5EF4-FFF2-40B4-BE49-F238E27FC236}">
                <a16:creationId xmlns:a16="http://schemas.microsoft.com/office/drawing/2014/main" id="{3826DFAA-ED3F-041F-47F8-F0532DD0C9A5}"/>
              </a:ext>
            </a:extLst>
          </p:cNvPr>
          <p:cNvSpPr/>
          <p:nvPr/>
        </p:nvSpPr>
        <p:spPr>
          <a:xfrm>
            <a:off x="7110476" y="2423160"/>
            <a:ext cx="502920" cy="347472"/>
          </a:xfrm>
          <a:prstGeom prst="roundRect">
            <a:avLst/>
          </a:prstGeom>
          <a:solidFill>
            <a:srgbClr val="235FAF"/>
          </a:solidFill>
          <a:ln w="1524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6FA"/>
                </a:solidFill>
                <a:latin typeface="Aptos Display"/>
              </a:rPr>
              <a:t>C9</a:t>
            </a:r>
          </a:p>
        </p:txBody>
      </p:sp>
      <p:sp>
        <p:nvSpPr>
          <p:cNvPr id="34" name="!!heap_C6">
            <a:extLst>
              <a:ext uri="{FF2B5EF4-FFF2-40B4-BE49-F238E27FC236}">
                <a16:creationId xmlns:a16="http://schemas.microsoft.com/office/drawing/2014/main" id="{CB0028C6-8B03-8293-0328-289399817FAF}"/>
              </a:ext>
            </a:extLst>
          </p:cNvPr>
          <p:cNvSpPr/>
          <p:nvPr/>
        </p:nvSpPr>
        <p:spPr>
          <a:xfrm>
            <a:off x="10021824" y="5468112"/>
            <a:ext cx="685800" cy="502920"/>
          </a:xfrm>
          <a:prstGeom prst="roundRect">
            <a:avLst/>
          </a:prstGeom>
          <a:solidFill>
            <a:srgbClr val="0C1018"/>
          </a:solidFill>
          <a:ln w="17780">
            <a:solidFill>
              <a:srgbClr val="FFC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6FA"/>
                </a:solidFill>
              </a:rPr>
              <a:t>C6</a:t>
            </a:r>
          </a:p>
          <a:p>
            <a:pPr algn="ctr"/>
            <a:r>
              <a:rPr sz="1100" b="0">
                <a:solidFill>
                  <a:srgbClr val="F5F6FA"/>
                </a:solidFill>
              </a:rPr>
              <a:t>30s</a:t>
            </a:r>
          </a:p>
        </p:txBody>
      </p:sp>
      <p:cxnSp>
        <p:nvCxnSpPr>
          <p:cNvPr id="35" name="!!heap_line_lr">
            <a:extLst>
              <a:ext uri="{FF2B5EF4-FFF2-40B4-BE49-F238E27FC236}">
                <a16:creationId xmlns:a16="http://schemas.microsoft.com/office/drawing/2014/main" id="{F69EB839-28B6-0D23-8130-A0C2C7F56035}"/>
              </a:ext>
            </a:extLst>
          </p:cNvPr>
          <p:cNvCxnSpPr/>
          <p:nvPr/>
        </p:nvCxnSpPr>
        <p:spPr>
          <a:xfrm>
            <a:off x="9948923" y="5129784"/>
            <a:ext cx="548640" cy="338328"/>
          </a:xfrm>
          <a:prstGeom prst="line">
            <a:avLst/>
          </a:prstGeom>
          <a:ln w="20320">
            <a:solidFill>
              <a:srgbClr val="FFC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!!fifo_text">
            <a:extLst>
              <a:ext uri="{FF2B5EF4-FFF2-40B4-BE49-F238E27FC236}">
                <a16:creationId xmlns:a16="http://schemas.microsoft.com/office/drawing/2014/main" id="{6E6DBBEB-57E5-A675-95F0-38482BED3B22}"/>
              </a:ext>
            </a:extLst>
          </p:cNvPr>
          <p:cNvSpPr txBox="1"/>
          <p:nvPr/>
        </p:nvSpPr>
        <p:spPr>
          <a:xfrm>
            <a:off x="6323584" y="2456090"/>
            <a:ext cx="7315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60EBE1"/>
                </a:solidFill>
                <a:latin typeface="Aptos Display"/>
              </a:rPr>
              <a:t>FIFO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E1CE00-8163-AF90-4A02-136AD0913DFB}"/>
              </a:ext>
            </a:extLst>
          </p:cNvPr>
          <p:cNvSpPr txBox="1"/>
          <p:nvPr/>
        </p:nvSpPr>
        <p:spPr>
          <a:xfrm>
            <a:off x="2569036" y="1417320"/>
            <a:ext cx="1079847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63E6BE"/>
                </a:solidFill>
                <a:latin typeface="Aptos"/>
              </a:rPr>
              <a:t>GAMEPLAY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5993F6-50F6-8994-9AA7-B74C487C6639}"/>
              </a:ext>
            </a:extLst>
          </p:cNvPr>
          <p:cNvSpPr txBox="1"/>
          <p:nvPr/>
        </p:nvSpPr>
        <p:spPr>
          <a:xfrm>
            <a:off x="8442128" y="1417320"/>
            <a:ext cx="1180836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1400" b="1" dirty="0">
                <a:solidFill>
                  <a:srgbClr val="FFD666"/>
                </a:solidFill>
                <a:latin typeface="Aptos"/>
              </a:rPr>
              <a:t>ALGORITHM</a:t>
            </a:r>
            <a:endParaRPr sz="1400" b="1" dirty="0">
              <a:solidFill>
                <a:srgbClr val="FFD66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866380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D666"/>
                </a:solidFill>
                <a:latin typeface="Aptos"/>
              </a:rPr>
              <a:t>4. Mood order: khách không gọi tên món, khách nói tâm trạng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486400" cy="521208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88920" y="1417320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63E6BE"/>
                </a:solidFill>
                <a:latin typeface="Aptos"/>
              </a:rPr>
              <a:t>GAMEPLAY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4937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3F5F7"/>
                </a:solidFill>
                <a:latin typeface="Aptos"/>
              </a:rPr>
              <a:t>Ví dụ tình huống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4526280" cy="475488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231136"/>
            <a:ext cx="4160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3F5F7"/>
                </a:solidFill>
                <a:latin typeface="Aptos"/>
              </a:rPr>
              <a:t>“Cho tôi thứ gì đó mạnh và đắng...”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80360"/>
            <a:ext cx="4526280" cy="475488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2962656"/>
            <a:ext cx="4160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3F5F7"/>
                </a:solidFill>
                <a:latin typeface="Aptos"/>
              </a:rPr>
              <a:t>“Tôi cần một ly xanh và sảng khoái...”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11880"/>
            <a:ext cx="4526280" cy="475488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694176"/>
            <a:ext cx="4160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3F5F7"/>
                </a:solidFill>
                <a:latin typeface="Aptos"/>
              </a:rPr>
              <a:t>“Pha cho tôi thứ gì đó nhiệt đới và trái cây...”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07409"/>
            <a:ext cx="868680" cy="274320"/>
          </a:xfrm>
          <a:prstGeom prst="roundRect">
            <a:avLst/>
          </a:prstGeom>
          <a:solidFill>
            <a:srgbClr val="FFD666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820"/>
                </a:solidFill>
              </a:rPr>
              <a:t>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56232" y="4416552"/>
            <a:ext cx="29260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3F5F7"/>
                </a:solidFill>
                <a:latin typeface="Aptos"/>
              </a:rPr>
              <a:t>→ Martini, Manhattan, Margarita 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18889"/>
            <a:ext cx="685800" cy="274320"/>
          </a:xfrm>
          <a:prstGeom prst="roundRect">
            <a:avLst/>
          </a:prstGeom>
          <a:solidFill>
            <a:srgbClr val="5EA8FF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820"/>
                </a:solidFill>
              </a:rPr>
              <a:t>blue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4828033"/>
            <a:ext cx="32918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3F5F7"/>
                </a:solidFill>
                <a:latin typeface="Aptos"/>
              </a:rPr>
              <a:t>→ Blue Monday, China Blue 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30369"/>
            <a:ext cx="868680" cy="274320"/>
          </a:xfrm>
          <a:prstGeom prst="roundRect">
            <a:avLst/>
          </a:prstGeom>
          <a:solidFill>
            <a:srgbClr val="63E6BE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1820"/>
                </a:solidFill>
              </a:rPr>
              <a:t>fruity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56232" y="5239513"/>
            <a:ext cx="31089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3F5F7"/>
                </a:solidFill>
                <a:latin typeface="Aptos"/>
              </a:rPr>
              <a:t>→ Cosmopolitan, Mai Tai, Reggae Punch 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  <p:sp>
        <p:nvSpPr>
          <p:cNvPr id="86" name="Rounded Rectangle 4">
            <a:extLst>
              <a:ext uri="{FF2B5EF4-FFF2-40B4-BE49-F238E27FC236}">
                <a16:creationId xmlns:a16="http://schemas.microsoft.com/office/drawing/2014/main" id="{BC842E66-7E16-0A5B-C7F7-C7E29091DFFD}"/>
              </a:ext>
            </a:extLst>
          </p:cNvPr>
          <p:cNvSpPr/>
          <p:nvPr/>
        </p:nvSpPr>
        <p:spPr>
          <a:xfrm>
            <a:off x="6291072" y="1234440"/>
            <a:ext cx="5596128" cy="5330952"/>
          </a:xfrm>
          <a:prstGeom prst="roundRect">
            <a:avLst/>
          </a:prstGeom>
          <a:solidFill>
            <a:srgbClr val="1D2531"/>
          </a:solidFill>
          <a:ln w="16510"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633648B-01F7-EE0F-B449-7A0D5E63D555}"/>
              </a:ext>
            </a:extLst>
          </p:cNvPr>
          <p:cNvSpPr txBox="1"/>
          <p:nvPr/>
        </p:nvSpPr>
        <p:spPr>
          <a:xfrm>
            <a:off x="8046720" y="143560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D45E"/>
                </a:solidFill>
                <a:latin typeface="Arial"/>
              </a:rPr>
              <a:t>ALGORITHM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8EF522-2BD3-32F5-1F68-0BAE9B43BF70}"/>
              </a:ext>
            </a:extLst>
          </p:cNvPr>
          <p:cNvSpPr txBox="1"/>
          <p:nvPr/>
        </p:nvSpPr>
        <p:spPr>
          <a:xfrm>
            <a:off x="6812280" y="1737360"/>
            <a:ext cx="4480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F5F7FB"/>
                </a:solidFill>
                <a:latin typeface="Arial"/>
              </a:rPr>
              <a:t>Inverted Index: mood → tags → cocktail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86369D4-A452-04BA-9BA6-D506931C5534}"/>
              </a:ext>
            </a:extLst>
          </p:cNvPr>
          <p:cNvSpPr/>
          <p:nvPr/>
        </p:nvSpPr>
        <p:spPr>
          <a:xfrm>
            <a:off x="6565392" y="2148839"/>
            <a:ext cx="347472" cy="347472"/>
          </a:xfrm>
          <a:prstGeom prst="ellipse">
            <a:avLst/>
          </a:prstGeom>
          <a:solidFill>
            <a:srgbClr val="101823"/>
          </a:solidFill>
          <a:ln w="17780"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81F7C24-F702-48B3-413C-147A252F22C1}"/>
              </a:ext>
            </a:extLst>
          </p:cNvPr>
          <p:cNvSpPr txBox="1"/>
          <p:nvPr/>
        </p:nvSpPr>
        <p:spPr>
          <a:xfrm>
            <a:off x="6565392" y="2148839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D45E"/>
                </a:solidFill>
                <a:latin typeface="Arial"/>
              </a:rPr>
              <a:t>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B5F6CE8-B4BC-84D2-60C6-BE093F6B9309}"/>
              </a:ext>
            </a:extLst>
          </p:cNvPr>
          <p:cNvSpPr/>
          <p:nvPr/>
        </p:nvSpPr>
        <p:spPr>
          <a:xfrm>
            <a:off x="7040880" y="2157984"/>
            <a:ext cx="329184" cy="256032"/>
          </a:xfrm>
          <a:prstGeom prst="rect">
            <a:avLst/>
          </a:prstGeom>
          <a:solidFill>
            <a:srgbClr val="101823"/>
          </a:solidFill>
          <a:ln w="19050"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078C3E2-FED8-C1C9-5F5C-31A62A7F403C}"/>
              </a:ext>
            </a:extLst>
          </p:cNvPr>
          <p:cNvSpPr txBox="1"/>
          <p:nvPr/>
        </p:nvSpPr>
        <p:spPr>
          <a:xfrm>
            <a:off x="7040880" y="2148839"/>
            <a:ext cx="32918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D45E"/>
                </a:solidFill>
                <a:latin typeface="Arial"/>
              </a:rPr>
              <a:t>...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59B247-299B-BC21-4A3B-D7A34C0BD581}"/>
              </a:ext>
            </a:extLst>
          </p:cNvPr>
          <p:cNvSpPr txBox="1"/>
          <p:nvPr/>
        </p:nvSpPr>
        <p:spPr>
          <a:xfrm>
            <a:off x="7726679" y="2103120"/>
            <a:ext cx="1463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FD45E"/>
                </a:solidFill>
                <a:latin typeface="Arial"/>
              </a:rPr>
              <a:t>Mood text</a:t>
            </a:r>
          </a:p>
        </p:txBody>
      </p:sp>
      <p:sp>
        <p:nvSpPr>
          <p:cNvPr id="94" name="Rounded Rectangle 20">
            <a:extLst>
              <a:ext uri="{FF2B5EF4-FFF2-40B4-BE49-F238E27FC236}">
                <a16:creationId xmlns:a16="http://schemas.microsoft.com/office/drawing/2014/main" id="{F9722C5F-4212-FBB1-62A3-9928130F6F43}"/>
              </a:ext>
            </a:extLst>
          </p:cNvPr>
          <p:cNvSpPr/>
          <p:nvPr/>
        </p:nvSpPr>
        <p:spPr>
          <a:xfrm>
            <a:off x="7726679" y="2350008"/>
            <a:ext cx="2880360" cy="329184"/>
          </a:xfrm>
          <a:prstGeom prst="roundRect">
            <a:avLst/>
          </a:prstGeom>
          <a:solidFill>
            <a:srgbClr val="101823"/>
          </a:solidFill>
          <a:ln w="12700"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49D1337-34FB-B9A7-BF62-E40B6E978CFD}"/>
              </a:ext>
            </a:extLst>
          </p:cNvPr>
          <p:cNvSpPr txBox="1"/>
          <p:nvPr/>
        </p:nvSpPr>
        <p:spPr>
          <a:xfrm>
            <a:off x="7863840" y="2404872"/>
            <a:ext cx="26060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F5F7FB"/>
                </a:solidFill>
                <a:latin typeface="Arial"/>
              </a:rPr>
              <a:t>“Cho tôi thứ gì đó mạnh và đắng...”</a:t>
            </a:r>
          </a:p>
        </p:txBody>
      </p:sp>
      <p:cxnSp>
        <p:nvCxnSpPr>
          <p:cNvPr id="96" name="Connector 22">
            <a:extLst>
              <a:ext uri="{FF2B5EF4-FFF2-40B4-BE49-F238E27FC236}">
                <a16:creationId xmlns:a16="http://schemas.microsoft.com/office/drawing/2014/main" id="{9F4CDFFD-C773-BF6C-7759-3CE30956E474}"/>
              </a:ext>
            </a:extLst>
          </p:cNvPr>
          <p:cNvCxnSpPr/>
          <p:nvPr/>
        </p:nvCxnSpPr>
        <p:spPr>
          <a:xfrm>
            <a:off x="7772400" y="2560320"/>
            <a:ext cx="0" cy="310896"/>
          </a:xfrm>
          <a:prstGeom prst="line">
            <a:avLst/>
          </a:prstGeom>
          <a:ln w="25400">
            <a:solidFill>
              <a:srgbClr val="FFD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D0DE6B7A-6623-6A18-0441-5B337896BBFE}"/>
              </a:ext>
            </a:extLst>
          </p:cNvPr>
          <p:cNvSpPr/>
          <p:nvPr/>
        </p:nvSpPr>
        <p:spPr>
          <a:xfrm rot="10800000">
            <a:off x="7722108" y="2811780"/>
            <a:ext cx="100584" cy="91440"/>
          </a:xfrm>
          <a:prstGeom prst="triangle">
            <a:avLst/>
          </a:prstGeom>
          <a:solidFill>
            <a:srgbClr val="FFD45E"/>
          </a:solidFill>
          <a:ln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FFD7713-353D-D20D-F4D9-13B32EF851E1}"/>
              </a:ext>
            </a:extLst>
          </p:cNvPr>
          <p:cNvSpPr/>
          <p:nvPr/>
        </p:nvSpPr>
        <p:spPr>
          <a:xfrm>
            <a:off x="6565392" y="2926080"/>
            <a:ext cx="347472" cy="347472"/>
          </a:xfrm>
          <a:prstGeom prst="ellipse">
            <a:avLst/>
          </a:prstGeom>
          <a:solidFill>
            <a:srgbClr val="101823"/>
          </a:solidFill>
          <a:ln w="1778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795BC59-3297-F54F-1BFE-BE451DA848AE}"/>
              </a:ext>
            </a:extLst>
          </p:cNvPr>
          <p:cNvSpPr txBox="1"/>
          <p:nvPr/>
        </p:nvSpPr>
        <p:spPr>
          <a:xfrm>
            <a:off x="6565392" y="2926080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8A6FF"/>
                </a:solidFill>
                <a:latin typeface="Arial"/>
              </a:rPr>
              <a:t>2</a:t>
            </a: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2A67D617-2CDD-A9C3-F429-2FE843ED8751}"/>
              </a:ext>
            </a:extLst>
          </p:cNvPr>
          <p:cNvSpPr/>
          <p:nvPr/>
        </p:nvSpPr>
        <p:spPr>
          <a:xfrm>
            <a:off x="7077456" y="2935224"/>
            <a:ext cx="274320" cy="274320"/>
          </a:xfrm>
          <a:prstGeom prst="diamond">
            <a:avLst/>
          </a:prstGeom>
          <a:solidFill>
            <a:srgbClr val="101823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D526F87-316F-2612-E7F6-5C59008C1C18}"/>
              </a:ext>
            </a:extLst>
          </p:cNvPr>
          <p:cNvSpPr txBox="1"/>
          <p:nvPr/>
        </p:nvSpPr>
        <p:spPr>
          <a:xfrm>
            <a:off x="7726679" y="2889504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58A6FF"/>
                </a:solidFill>
                <a:latin typeface="Arial"/>
              </a:rPr>
              <a:t>Extracted tags</a:t>
            </a:r>
          </a:p>
        </p:txBody>
      </p:sp>
      <p:sp>
        <p:nvSpPr>
          <p:cNvPr id="102" name="Rounded Rectangle 28">
            <a:extLst>
              <a:ext uri="{FF2B5EF4-FFF2-40B4-BE49-F238E27FC236}">
                <a16:creationId xmlns:a16="http://schemas.microsoft.com/office/drawing/2014/main" id="{BD7FD74F-2025-E398-877B-B5AAE45027AB}"/>
              </a:ext>
            </a:extLst>
          </p:cNvPr>
          <p:cNvSpPr/>
          <p:nvPr/>
        </p:nvSpPr>
        <p:spPr>
          <a:xfrm>
            <a:off x="7726679" y="3182112"/>
            <a:ext cx="786384" cy="320040"/>
          </a:xfrm>
          <a:prstGeom prst="roundRect">
            <a:avLst/>
          </a:prstGeom>
          <a:solidFill>
            <a:srgbClr val="FFD45E"/>
          </a:solidFill>
          <a:ln w="6350"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4CE8D6C-019D-0E4B-7FB9-B21E944C0053}"/>
              </a:ext>
            </a:extLst>
          </p:cNvPr>
          <p:cNvSpPr txBox="1"/>
          <p:nvPr/>
        </p:nvSpPr>
        <p:spPr>
          <a:xfrm>
            <a:off x="7726679" y="3182112"/>
            <a:ext cx="78638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01720"/>
                </a:solidFill>
                <a:latin typeface="Arial"/>
              </a:rPr>
              <a:t>strong</a:t>
            </a:r>
          </a:p>
        </p:txBody>
      </p:sp>
      <p:sp>
        <p:nvSpPr>
          <p:cNvPr id="104" name="Rounded Rectangle 30">
            <a:extLst>
              <a:ext uri="{FF2B5EF4-FFF2-40B4-BE49-F238E27FC236}">
                <a16:creationId xmlns:a16="http://schemas.microsoft.com/office/drawing/2014/main" id="{9E378280-393A-A8AA-578F-A5B4CFB9281F}"/>
              </a:ext>
            </a:extLst>
          </p:cNvPr>
          <p:cNvSpPr/>
          <p:nvPr/>
        </p:nvSpPr>
        <p:spPr>
          <a:xfrm>
            <a:off x="8659367" y="3182112"/>
            <a:ext cx="749808" cy="32004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EBD18AE-AACC-304E-AB8F-F9F901A5908C}"/>
              </a:ext>
            </a:extLst>
          </p:cNvPr>
          <p:cNvSpPr txBox="1"/>
          <p:nvPr/>
        </p:nvSpPr>
        <p:spPr>
          <a:xfrm>
            <a:off x="8659367" y="3182112"/>
            <a:ext cx="7498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01720"/>
                </a:solidFill>
                <a:latin typeface="Arial"/>
              </a:rPr>
              <a:t>bitter</a:t>
            </a:r>
          </a:p>
        </p:txBody>
      </p:sp>
      <p:cxnSp>
        <p:nvCxnSpPr>
          <p:cNvPr id="106" name="Connector 32">
            <a:extLst>
              <a:ext uri="{FF2B5EF4-FFF2-40B4-BE49-F238E27FC236}">
                <a16:creationId xmlns:a16="http://schemas.microsoft.com/office/drawing/2014/main" id="{461F6E7A-1A3B-1745-67F6-285FF390698F}"/>
              </a:ext>
            </a:extLst>
          </p:cNvPr>
          <p:cNvCxnSpPr/>
          <p:nvPr/>
        </p:nvCxnSpPr>
        <p:spPr>
          <a:xfrm>
            <a:off x="7772400" y="3438144"/>
            <a:ext cx="0" cy="310896"/>
          </a:xfrm>
          <a:prstGeom prst="line">
            <a:avLst/>
          </a:prstGeom>
          <a:ln w="25400">
            <a:solidFill>
              <a:srgbClr val="FFD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Isosceles Triangle 106">
            <a:extLst>
              <a:ext uri="{FF2B5EF4-FFF2-40B4-BE49-F238E27FC236}">
                <a16:creationId xmlns:a16="http://schemas.microsoft.com/office/drawing/2014/main" id="{684209CA-669E-5382-64BE-0CEEC9A87BBF}"/>
              </a:ext>
            </a:extLst>
          </p:cNvPr>
          <p:cNvSpPr/>
          <p:nvPr/>
        </p:nvSpPr>
        <p:spPr>
          <a:xfrm rot="10800000">
            <a:off x="7722108" y="3689604"/>
            <a:ext cx="100584" cy="91440"/>
          </a:xfrm>
          <a:prstGeom prst="triangle">
            <a:avLst/>
          </a:prstGeom>
          <a:solidFill>
            <a:srgbClr val="FFD45E"/>
          </a:solidFill>
          <a:ln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DE8A044-E91B-CB75-1C67-90B9F69FE3BA}"/>
              </a:ext>
            </a:extLst>
          </p:cNvPr>
          <p:cNvSpPr/>
          <p:nvPr/>
        </p:nvSpPr>
        <p:spPr>
          <a:xfrm>
            <a:off x="6565392" y="3712464"/>
            <a:ext cx="347472" cy="347472"/>
          </a:xfrm>
          <a:prstGeom prst="ellipse">
            <a:avLst/>
          </a:prstGeom>
          <a:solidFill>
            <a:srgbClr val="101823"/>
          </a:solidFill>
          <a:ln w="17780">
            <a:solidFill>
              <a:srgbClr val="60E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EDBE495-F05B-C9BC-FFC7-ABE446D7F141}"/>
              </a:ext>
            </a:extLst>
          </p:cNvPr>
          <p:cNvSpPr txBox="1"/>
          <p:nvPr/>
        </p:nvSpPr>
        <p:spPr>
          <a:xfrm>
            <a:off x="6565392" y="3712464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0E6A7"/>
                </a:solidFill>
                <a:latin typeface="Arial"/>
              </a:rPr>
              <a:t>3</a:t>
            </a:r>
          </a:p>
        </p:txBody>
      </p:sp>
      <p:sp>
        <p:nvSpPr>
          <p:cNvPr id="110" name="Rounded Rectangle 36">
            <a:extLst>
              <a:ext uri="{FF2B5EF4-FFF2-40B4-BE49-F238E27FC236}">
                <a16:creationId xmlns:a16="http://schemas.microsoft.com/office/drawing/2014/main" id="{FCE36040-E386-4FF4-5D29-3FC116D5AE47}"/>
              </a:ext>
            </a:extLst>
          </p:cNvPr>
          <p:cNvSpPr/>
          <p:nvPr/>
        </p:nvSpPr>
        <p:spPr>
          <a:xfrm>
            <a:off x="7040880" y="3730752"/>
            <a:ext cx="329184" cy="347472"/>
          </a:xfrm>
          <a:prstGeom prst="roundRect">
            <a:avLst/>
          </a:prstGeom>
          <a:solidFill>
            <a:srgbClr val="101823"/>
          </a:solidFill>
          <a:ln w="19050">
            <a:solidFill>
              <a:srgbClr val="60E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954D570-342D-38DE-F34E-EF87E67B9729}"/>
              </a:ext>
            </a:extLst>
          </p:cNvPr>
          <p:cNvSpPr txBox="1"/>
          <p:nvPr/>
        </p:nvSpPr>
        <p:spPr>
          <a:xfrm>
            <a:off x="7726679" y="3694176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60E6A7"/>
                </a:solidFill>
                <a:latin typeface="Arial"/>
              </a:rPr>
              <a:t>Index lookup</a:t>
            </a:r>
          </a:p>
        </p:txBody>
      </p:sp>
      <p:sp>
        <p:nvSpPr>
          <p:cNvPr id="112" name="Rounded Rectangle 38">
            <a:extLst>
              <a:ext uri="{FF2B5EF4-FFF2-40B4-BE49-F238E27FC236}">
                <a16:creationId xmlns:a16="http://schemas.microsoft.com/office/drawing/2014/main" id="{4EA0226B-F3DC-93F3-1ADF-7C7D74493605}"/>
              </a:ext>
            </a:extLst>
          </p:cNvPr>
          <p:cNvSpPr/>
          <p:nvPr/>
        </p:nvSpPr>
        <p:spPr>
          <a:xfrm>
            <a:off x="7726679" y="4014216"/>
            <a:ext cx="749808" cy="274320"/>
          </a:xfrm>
          <a:prstGeom prst="roundRect">
            <a:avLst/>
          </a:prstGeom>
          <a:solidFill>
            <a:srgbClr val="FFD45E"/>
          </a:solidFill>
          <a:ln w="6350"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A059729-EE35-C31E-93B1-A1259828214B}"/>
              </a:ext>
            </a:extLst>
          </p:cNvPr>
          <p:cNvSpPr txBox="1"/>
          <p:nvPr/>
        </p:nvSpPr>
        <p:spPr>
          <a:xfrm>
            <a:off x="7726679" y="4014216"/>
            <a:ext cx="7498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01720"/>
                </a:solidFill>
                <a:latin typeface="Arial"/>
              </a:rPr>
              <a:t>strong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EC67332-8A38-7252-0B9F-46BFF1CC1A77}"/>
              </a:ext>
            </a:extLst>
          </p:cNvPr>
          <p:cNvSpPr txBox="1"/>
          <p:nvPr/>
        </p:nvSpPr>
        <p:spPr>
          <a:xfrm>
            <a:off x="8531352" y="4023360"/>
            <a:ext cx="2788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5F7FB"/>
                </a:solidFill>
                <a:latin typeface="Arial"/>
              </a:rPr>
              <a:t>→ Martini, Manhattan, Margarita</a:t>
            </a:r>
          </a:p>
        </p:txBody>
      </p:sp>
      <p:sp>
        <p:nvSpPr>
          <p:cNvPr id="115" name="Rounded Rectangle 41">
            <a:extLst>
              <a:ext uri="{FF2B5EF4-FFF2-40B4-BE49-F238E27FC236}">
                <a16:creationId xmlns:a16="http://schemas.microsoft.com/office/drawing/2014/main" id="{DF7E4A74-916C-9A25-8480-7D520C2EA6B2}"/>
              </a:ext>
            </a:extLst>
          </p:cNvPr>
          <p:cNvSpPr/>
          <p:nvPr/>
        </p:nvSpPr>
        <p:spPr>
          <a:xfrm>
            <a:off x="7726679" y="4343399"/>
            <a:ext cx="749808" cy="2743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4D69413-4B60-EE37-3AD9-BEAC466A4FE9}"/>
              </a:ext>
            </a:extLst>
          </p:cNvPr>
          <p:cNvSpPr txBox="1"/>
          <p:nvPr/>
        </p:nvSpPr>
        <p:spPr>
          <a:xfrm>
            <a:off x="7726679" y="4343399"/>
            <a:ext cx="7498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01720"/>
                </a:solidFill>
                <a:latin typeface="Arial"/>
              </a:rPr>
              <a:t>bitter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EBADC1D-9F63-A70F-F05E-36E4F6040EAF}"/>
              </a:ext>
            </a:extLst>
          </p:cNvPr>
          <p:cNvSpPr txBox="1"/>
          <p:nvPr/>
        </p:nvSpPr>
        <p:spPr>
          <a:xfrm>
            <a:off x="8531352" y="4352544"/>
            <a:ext cx="2788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5F7FB"/>
                </a:solidFill>
                <a:latin typeface="Arial"/>
              </a:rPr>
              <a:t>→ Martini, Manhattan, Algonquin</a:t>
            </a:r>
          </a:p>
        </p:txBody>
      </p:sp>
      <p:cxnSp>
        <p:nvCxnSpPr>
          <p:cNvPr id="118" name="Connector 44">
            <a:extLst>
              <a:ext uri="{FF2B5EF4-FFF2-40B4-BE49-F238E27FC236}">
                <a16:creationId xmlns:a16="http://schemas.microsoft.com/office/drawing/2014/main" id="{2920D26B-5D0B-24D3-5094-DAC643728ED2}"/>
              </a:ext>
            </a:extLst>
          </p:cNvPr>
          <p:cNvCxnSpPr/>
          <p:nvPr/>
        </p:nvCxnSpPr>
        <p:spPr>
          <a:xfrm>
            <a:off x="7772400" y="4608576"/>
            <a:ext cx="0" cy="219456"/>
          </a:xfrm>
          <a:prstGeom prst="line">
            <a:avLst/>
          </a:prstGeom>
          <a:ln w="25400">
            <a:solidFill>
              <a:srgbClr val="FFD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Isosceles Triangle 118">
            <a:extLst>
              <a:ext uri="{FF2B5EF4-FFF2-40B4-BE49-F238E27FC236}">
                <a16:creationId xmlns:a16="http://schemas.microsoft.com/office/drawing/2014/main" id="{DE235B61-F960-670A-F3FE-97E1EB55EF6E}"/>
              </a:ext>
            </a:extLst>
          </p:cNvPr>
          <p:cNvSpPr/>
          <p:nvPr/>
        </p:nvSpPr>
        <p:spPr>
          <a:xfrm rot="10800000">
            <a:off x="7722108" y="4768596"/>
            <a:ext cx="100584" cy="91440"/>
          </a:xfrm>
          <a:prstGeom prst="triangle">
            <a:avLst/>
          </a:prstGeom>
          <a:solidFill>
            <a:srgbClr val="FFD45E"/>
          </a:solidFill>
          <a:ln>
            <a:solidFill>
              <a:srgbClr val="FFD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18156B7C-4B65-D127-A031-5FF1C0925D66}"/>
              </a:ext>
            </a:extLst>
          </p:cNvPr>
          <p:cNvSpPr/>
          <p:nvPr/>
        </p:nvSpPr>
        <p:spPr>
          <a:xfrm>
            <a:off x="6565392" y="4828032"/>
            <a:ext cx="347472" cy="347472"/>
          </a:xfrm>
          <a:prstGeom prst="ellipse">
            <a:avLst/>
          </a:prstGeom>
          <a:solidFill>
            <a:srgbClr val="101823"/>
          </a:solidFill>
          <a:ln w="17780">
            <a:solidFill>
              <a:srgbClr val="B2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4474323-D447-D78F-5735-52D3CF26F1DC}"/>
              </a:ext>
            </a:extLst>
          </p:cNvPr>
          <p:cNvSpPr txBox="1"/>
          <p:nvPr/>
        </p:nvSpPr>
        <p:spPr>
          <a:xfrm>
            <a:off x="6565392" y="4828032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B27CFF"/>
                </a:solidFill>
                <a:latin typeface="Arial"/>
              </a:rPr>
              <a:t>4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45FD54A-CC7F-2412-C637-D4E15E9AE9E5}"/>
              </a:ext>
            </a:extLst>
          </p:cNvPr>
          <p:cNvSpPr/>
          <p:nvPr/>
        </p:nvSpPr>
        <p:spPr>
          <a:xfrm>
            <a:off x="7077456" y="4782312"/>
            <a:ext cx="64008" cy="155448"/>
          </a:xfrm>
          <a:prstGeom prst="rect">
            <a:avLst/>
          </a:prstGeom>
          <a:solidFill>
            <a:srgbClr val="101823"/>
          </a:solidFill>
          <a:ln w="12700">
            <a:solidFill>
              <a:srgbClr val="B2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BB85F6F-5BE9-194A-0477-7F2AEAA8B9CD}"/>
              </a:ext>
            </a:extLst>
          </p:cNvPr>
          <p:cNvSpPr/>
          <p:nvPr/>
        </p:nvSpPr>
        <p:spPr>
          <a:xfrm>
            <a:off x="7178040" y="4709160"/>
            <a:ext cx="64008" cy="228600"/>
          </a:xfrm>
          <a:prstGeom prst="rect">
            <a:avLst/>
          </a:prstGeom>
          <a:solidFill>
            <a:srgbClr val="101823"/>
          </a:solidFill>
          <a:ln w="12700">
            <a:solidFill>
              <a:srgbClr val="B2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FAC21B-916E-A396-265E-3504718FCC56}"/>
              </a:ext>
            </a:extLst>
          </p:cNvPr>
          <p:cNvSpPr/>
          <p:nvPr/>
        </p:nvSpPr>
        <p:spPr>
          <a:xfrm>
            <a:off x="7278624" y="4626864"/>
            <a:ext cx="64008" cy="310896"/>
          </a:xfrm>
          <a:prstGeom prst="rect">
            <a:avLst/>
          </a:prstGeom>
          <a:solidFill>
            <a:srgbClr val="101823"/>
          </a:solidFill>
          <a:ln w="12700">
            <a:solidFill>
              <a:srgbClr val="B2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FE32BCF-1BCA-CD56-D7CD-6766E44B2527}"/>
              </a:ext>
            </a:extLst>
          </p:cNvPr>
          <p:cNvSpPr txBox="1"/>
          <p:nvPr/>
        </p:nvSpPr>
        <p:spPr>
          <a:xfrm>
            <a:off x="7726679" y="4791456"/>
            <a:ext cx="1645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B27CFF"/>
                </a:solidFill>
                <a:latin typeface="Arial"/>
              </a:rPr>
              <a:t>Match score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9C60D36-3F7F-9F04-E461-3F2A9A02408B}"/>
              </a:ext>
            </a:extLst>
          </p:cNvPr>
          <p:cNvSpPr txBox="1"/>
          <p:nvPr/>
        </p:nvSpPr>
        <p:spPr>
          <a:xfrm>
            <a:off x="7726679" y="5010912"/>
            <a:ext cx="960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F5F7FB"/>
                </a:solidFill>
                <a:latin typeface="Arial"/>
              </a:rPr>
              <a:t>Martini</a:t>
            </a:r>
          </a:p>
        </p:txBody>
      </p:sp>
      <p:sp>
        <p:nvSpPr>
          <p:cNvPr id="127" name="Rounded Rectangle 53">
            <a:extLst>
              <a:ext uri="{FF2B5EF4-FFF2-40B4-BE49-F238E27FC236}">
                <a16:creationId xmlns:a16="http://schemas.microsoft.com/office/drawing/2014/main" id="{24B368FF-286B-3966-1E42-43E518E3BD8B}"/>
              </a:ext>
            </a:extLst>
          </p:cNvPr>
          <p:cNvSpPr/>
          <p:nvPr/>
        </p:nvSpPr>
        <p:spPr>
          <a:xfrm>
            <a:off x="8869680" y="5079492"/>
            <a:ext cx="1920240" cy="64008"/>
          </a:xfrm>
          <a:prstGeom prst="roundRect">
            <a:avLst/>
          </a:prstGeom>
          <a:solidFill>
            <a:srgbClr val="2B3444"/>
          </a:solidFill>
          <a:ln>
            <a:solidFill>
              <a:srgbClr val="2B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54">
            <a:extLst>
              <a:ext uri="{FF2B5EF4-FFF2-40B4-BE49-F238E27FC236}">
                <a16:creationId xmlns:a16="http://schemas.microsoft.com/office/drawing/2014/main" id="{62F0ED80-5D1C-03D6-BB68-8E76FB270089}"/>
              </a:ext>
            </a:extLst>
          </p:cNvPr>
          <p:cNvSpPr/>
          <p:nvPr/>
        </p:nvSpPr>
        <p:spPr>
          <a:xfrm>
            <a:off x="8869680" y="5079492"/>
            <a:ext cx="1325880" cy="64008"/>
          </a:xfrm>
          <a:prstGeom prst="roundRect">
            <a:avLst/>
          </a:prstGeom>
          <a:solidFill>
            <a:srgbClr val="B27CFF"/>
          </a:solidFill>
          <a:ln>
            <a:solidFill>
              <a:srgbClr val="B2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D48E2B7-7E6F-6D77-3B17-2940AC74A657}"/>
              </a:ext>
            </a:extLst>
          </p:cNvPr>
          <p:cNvSpPr txBox="1"/>
          <p:nvPr/>
        </p:nvSpPr>
        <p:spPr>
          <a:xfrm>
            <a:off x="10972800" y="5010912"/>
            <a:ext cx="228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5F7FB"/>
                </a:solidFill>
                <a:latin typeface="Arial"/>
              </a:rPr>
              <a:t>2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36F2861-EE99-D473-5688-C3C9C055193D}"/>
              </a:ext>
            </a:extLst>
          </p:cNvPr>
          <p:cNvSpPr txBox="1"/>
          <p:nvPr/>
        </p:nvSpPr>
        <p:spPr>
          <a:xfrm>
            <a:off x="7726679" y="5230368"/>
            <a:ext cx="960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F5F7FB"/>
                </a:solidFill>
                <a:latin typeface="Arial"/>
              </a:rPr>
              <a:t>Manhattan</a:t>
            </a:r>
          </a:p>
        </p:txBody>
      </p:sp>
      <p:sp>
        <p:nvSpPr>
          <p:cNvPr id="131" name="Rounded Rectangle 57">
            <a:extLst>
              <a:ext uri="{FF2B5EF4-FFF2-40B4-BE49-F238E27FC236}">
                <a16:creationId xmlns:a16="http://schemas.microsoft.com/office/drawing/2014/main" id="{9EBE2F1B-0A29-3393-6006-862B27C3F3C3}"/>
              </a:ext>
            </a:extLst>
          </p:cNvPr>
          <p:cNvSpPr/>
          <p:nvPr/>
        </p:nvSpPr>
        <p:spPr>
          <a:xfrm>
            <a:off x="8869680" y="5298948"/>
            <a:ext cx="1920240" cy="64008"/>
          </a:xfrm>
          <a:prstGeom prst="roundRect">
            <a:avLst/>
          </a:prstGeom>
          <a:solidFill>
            <a:srgbClr val="2B3444"/>
          </a:solidFill>
          <a:ln>
            <a:solidFill>
              <a:srgbClr val="2B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ounded Rectangle 58">
            <a:extLst>
              <a:ext uri="{FF2B5EF4-FFF2-40B4-BE49-F238E27FC236}">
                <a16:creationId xmlns:a16="http://schemas.microsoft.com/office/drawing/2014/main" id="{ABECE632-8DB5-B459-28CC-95B9F12F74B1}"/>
              </a:ext>
            </a:extLst>
          </p:cNvPr>
          <p:cNvSpPr/>
          <p:nvPr/>
        </p:nvSpPr>
        <p:spPr>
          <a:xfrm>
            <a:off x="8869680" y="5298948"/>
            <a:ext cx="1325880" cy="64008"/>
          </a:xfrm>
          <a:prstGeom prst="roundRect">
            <a:avLst/>
          </a:prstGeom>
          <a:solidFill>
            <a:srgbClr val="B27CFF"/>
          </a:solidFill>
          <a:ln>
            <a:solidFill>
              <a:srgbClr val="B2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9A5642E-883C-AB4F-19DF-10CC973AC9E6}"/>
              </a:ext>
            </a:extLst>
          </p:cNvPr>
          <p:cNvSpPr txBox="1"/>
          <p:nvPr/>
        </p:nvSpPr>
        <p:spPr>
          <a:xfrm>
            <a:off x="10972800" y="5230368"/>
            <a:ext cx="228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5F7FB"/>
                </a:solidFill>
                <a:latin typeface="Arial"/>
              </a:rPr>
              <a:t>2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9F0E08C-6010-1ACA-07E4-167E35464D9A}"/>
              </a:ext>
            </a:extLst>
          </p:cNvPr>
          <p:cNvSpPr txBox="1"/>
          <p:nvPr/>
        </p:nvSpPr>
        <p:spPr>
          <a:xfrm>
            <a:off x="7726679" y="5449824"/>
            <a:ext cx="960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F5F7FB"/>
                </a:solidFill>
                <a:latin typeface="Arial"/>
              </a:rPr>
              <a:t>Margarita</a:t>
            </a:r>
          </a:p>
        </p:txBody>
      </p:sp>
      <p:sp>
        <p:nvSpPr>
          <p:cNvPr id="135" name="Rounded Rectangle 61">
            <a:extLst>
              <a:ext uri="{FF2B5EF4-FFF2-40B4-BE49-F238E27FC236}">
                <a16:creationId xmlns:a16="http://schemas.microsoft.com/office/drawing/2014/main" id="{9E278307-8CCD-B491-B083-9E2AD4297618}"/>
              </a:ext>
            </a:extLst>
          </p:cNvPr>
          <p:cNvSpPr/>
          <p:nvPr/>
        </p:nvSpPr>
        <p:spPr>
          <a:xfrm>
            <a:off x="8869680" y="5518404"/>
            <a:ext cx="1920240" cy="64008"/>
          </a:xfrm>
          <a:prstGeom prst="roundRect">
            <a:avLst/>
          </a:prstGeom>
          <a:solidFill>
            <a:srgbClr val="2B3444"/>
          </a:solidFill>
          <a:ln>
            <a:solidFill>
              <a:srgbClr val="2B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62">
            <a:extLst>
              <a:ext uri="{FF2B5EF4-FFF2-40B4-BE49-F238E27FC236}">
                <a16:creationId xmlns:a16="http://schemas.microsoft.com/office/drawing/2014/main" id="{D0DA0426-05ED-9097-6823-B2BF90AA8C91}"/>
              </a:ext>
            </a:extLst>
          </p:cNvPr>
          <p:cNvSpPr/>
          <p:nvPr/>
        </p:nvSpPr>
        <p:spPr>
          <a:xfrm>
            <a:off x="8869680" y="5518404"/>
            <a:ext cx="658368" cy="64008"/>
          </a:xfrm>
          <a:prstGeom prst="roundRect">
            <a:avLst/>
          </a:prstGeom>
          <a:solidFill>
            <a:srgbClr val="B27CFF"/>
          </a:solidFill>
          <a:ln>
            <a:solidFill>
              <a:srgbClr val="B2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620A239-97F3-BF09-CF7A-35B15A0E78AC}"/>
              </a:ext>
            </a:extLst>
          </p:cNvPr>
          <p:cNvSpPr txBox="1"/>
          <p:nvPr/>
        </p:nvSpPr>
        <p:spPr>
          <a:xfrm>
            <a:off x="10972800" y="5449824"/>
            <a:ext cx="228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5F7FB"/>
                </a:solidFill>
                <a:latin typeface="Arial"/>
              </a:rPr>
              <a:t>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BFD47DA-2E37-C773-8D70-E9EC8B8C509E}"/>
              </a:ext>
            </a:extLst>
          </p:cNvPr>
          <p:cNvSpPr txBox="1"/>
          <p:nvPr/>
        </p:nvSpPr>
        <p:spPr>
          <a:xfrm>
            <a:off x="7726679" y="5669280"/>
            <a:ext cx="960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F5F7FB"/>
                </a:solidFill>
                <a:latin typeface="Arial"/>
              </a:rPr>
              <a:t>Algonquin</a:t>
            </a:r>
          </a:p>
        </p:txBody>
      </p:sp>
      <p:sp>
        <p:nvSpPr>
          <p:cNvPr id="139" name="Rounded Rectangle 65">
            <a:extLst>
              <a:ext uri="{FF2B5EF4-FFF2-40B4-BE49-F238E27FC236}">
                <a16:creationId xmlns:a16="http://schemas.microsoft.com/office/drawing/2014/main" id="{6DBA2726-8EEE-2164-F024-6DF3E4540287}"/>
              </a:ext>
            </a:extLst>
          </p:cNvPr>
          <p:cNvSpPr/>
          <p:nvPr/>
        </p:nvSpPr>
        <p:spPr>
          <a:xfrm>
            <a:off x="8869680" y="5737860"/>
            <a:ext cx="1920240" cy="64008"/>
          </a:xfrm>
          <a:prstGeom prst="roundRect">
            <a:avLst/>
          </a:prstGeom>
          <a:solidFill>
            <a:srgbClr val="2B3444"/>
          </a:solidFill>
          <a:ln>
            <a:solidFill>
              <a:srgbClr val="2B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ounded Rectangle 66">
            <a:extLst>
              <a:ext uri="{FF2B5EF4-FFF2-40B4-BE49-F238E27FC236}">
                <a16:creationId xmlns:a16="http://schemas.microsoft.com/office/drawing/2014/main" id="{8D4FB692-DD0F-39FD-CA2C-1834B0657E58}"/>
              </a:ext>
            </a:extLst>
          </p:cNvPr>
          <p:cNvSpPr/>
          <p:nvPr/>
        </p:nvSpPr>
        <p:spPr>
          <a:xfrm>
            <a:off x="8869680" y="5737860"/>
            <a:ext cx="658368" cy="64008"/>
          </a:xfrm>
          <a:prstGeom prst="roundRect">
            <a:avLst/>
          </a:prstGeom>
          <a:solidFill>
            <a:srgbClr val="B27CFF"/>
          </a:solidFill>
          <a:ln>
            <a:solidFill>
              <a:srgbClr val="B2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F0977C7-0D4D-7E7E-5B84-2464D7A7FFB1}"/>
              </a:ext>
            </a:extLst>
          </p:cNvPr>
          <p:cNvSpPr txBox="1"/>
          <p:nvPr/>
        </p:nvSpPr>
        <p:spPr>
          <a:xfrm>
            <a:off x="10972800" y="5669280"/>
            <a:ext cx="228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5F7FB"/>
                </a:solidFill>
                <a:latin typeface="Arial"/>
              </a:rPr>
              <a:t>1</a:t>
            </a:r>
          </a:p>
        </p:txBody>
      </p:sp>
      <p:sp>
        <p:nvSpPr>
          <p:cNvPr id="142" name="Rounded Rectangle 68">
            <a:extLst>
              <a:ext uri="{FF2B5EF4-FFF2-40B4-BE49-F238E27FC236}">
                <a16:creationId xmlns:a16="http://schemas.microsoft.com/office/drawing/2014/main" id="{9E35C18C-EB2C-EF78-B969-536297CA5F5E}"/>
              </a:ext>
            </a:extLst>
          </p:cNvPr>
          <p:cNvSpPr/>
          <p:nvPr/>
        </p:nvSpPr>
        <p:spPr>
          <a:xfrm>
            <a:off x="6638544" y="6035040"/>
            <a:ext cx="4709160" cy="457200"/>
          </a:xfrm>
          <a:prstGeom prst="roundRect">
            <a:avLst/>
          </a:prstGeom>
          <a:solidFill>
            <a:srgbClr val="101823"/>
          </a:solidFill>
          <a:ln w="19050">
            <a:solidFill>
              <a:srgbClr val="60E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rapezoid 142">
            <a:extLst>
              <a:ext uri="{FF2B5EF4-FFF2-40B4-BE49-F238E27FC236}">
                <a16:creationId xmlns:a16="http://schemas.microsoft.com/office/drawing/2014/main" id="{AAAD74B3-275F-F327-EBD8-BE35C524E758}"/>
              </a:ext>
            </a:extLst>
          </p:cNvPr>
          <p:cNvSpPr/>
          <p:nvPr/>
        </p:nvSpPr>
        <p:spPr>
          <a:xfrm>
            <a:off x="7004304" y="6135624"/>
            <a:ext cx="274320" cy="164592"/>
          </a:xfrm>
          <a:prstGeom prst="trapezoid">
            <a:avLst/>
          </a:prstGeom>
          <a:solidFill>
            <a:srgbClr val="101823"/>
          </a:solidFill>
          <a:ln w="19050">
            <a:solidFill>
              <a:srgbClr val="60E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98CBBF7-0A2C-7567-A9E0-48150FAF201E}"/>
              </a:ext>
            </a:extLst>
          </p:cNvPr>
          <p:cNvSpPr txBox="1"/>
          <p:nvPr/>
        </p:nvSpPr>
        <p:spPr>
          <a:xfrm>
            <a:off x="7315200" y="609904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60E6A7"/>
                </a:solidFill>
                <a:latin typeface="Arial"/>
              </a:rPr>
              <a:t>Suggested: Martini / Manhattan</a:t>
            </a:r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D666"/>
                </a:solidFill>
                <a:latin typeface="Aptos"/>
              </a:rPr>
              <a:t>5. Search recipe thật nhanh với Trie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49240" cy="512064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14600" y="1417320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63E6BE"/>
                </a:solidFill>
                <a:latin typeface="Aptos"/>
              </a:rPr>
              <a:t>GAMEPLAY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1936"/>
            <a:ext cx="4389120" cy="169164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455672"/>
            <a:ext cx="20116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FFD666"/>
                </a:solidFill>
                <a:latin typeface="Aptos"/>
              </a:rPr>
              <a:t>Search: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2391663"/>
            <a:ext cx="2514600" cy="292608"/>
          </a:xfrm>
          <a:prstGeom prst="roundRect">
            <a:avLst/>
          </a:prstGeom>
          <a:solidFill>
            <a:srgbClr val="141820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75104" y="2392679"/>
            <a:ext cx="19202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F3F5F7"/>
                </a:solidFill>
                <a:latin typeface="Aptos"/>
              </a:rPr>
              <a:t>Ma...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2858008"/>
            <a:ext cx="3017520" cy="219456"/>
          </a:xfrm>
          <a:prstGeom prst="roundRect">
            <a:avLst/>
          </a:prstGeom>
          <a:solidFill>
            <a:srgbClr val="141820"/>
          </a:solidFill>
          <a:ln w="15240">
            <a:solidFill>
              <a:srgbClr val="2C3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7864" y="2822956"/>
            <a:ext cx="265176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 dirty="0">
                <a:solidFill>
                  <a:srgbClr val="F3F5F7"/>
                </a:solidFill>
                <a:latin typeface="Aptos"/>
              </a:rPr>
              <a:t>Margarita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3159760"/>
            <a:ext cx="3017520" cy="219456"/>
          </a:xfrm>
          <a:prstGeom prst="roundRect">
            <a:avLst/>
          </a:prstGeom>
          <a:solidFill>
            <a:srgbClr val="141820"/>
          </a:solidFill>
          <a:ln w="15240">
            <a:solidFill>
              <a:srgbClr val="2C3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97864" y="3132328"/>
            <a:ext cx="265176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 dirty="0">
                <a:solidFill>
                  <a:srgbClr val="F3F5F7"/>
                </a:solidFill>
                <a:latin typeface="Aptos"/>
              </a:rPr>
              <a:t>Martini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3461512"/>
            <a:ext cx="3017520" cy="219456"/>
          </a:xfrm>
          <a:prstGeom prst="roundRect">
            <a:avLst/>
          </a:prstGeom>
          <a:solidFill>
            <a:srgbClr val="141820"/>
          </a:solidFill>
          <a:ln w="15240">
            <a:solidFill>
              <a:srgbClr val="2C3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97864" y="3438652"/>
            <a:ext cx="2651760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 dirty="0">
                <a:solidFill>
                  <a:srgbClr val="F3F5F7"/>
                </a:solidFill>
                <a:latin typeface="Aptos"/>
              </a:rPr>
              <a:t>Mai Tai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  <p:sp>
        <p:nvSpPr>
          <p:cNvPr id="72" name="Rounded Rectangle 6">
            <a:extLst>
              <a:ext uri="{FF2B5EF4-FFF2-40B4-BE49-F238E27FC236}">
                <a16:creationId xmlns:a16="http://schemas.microsoft.com/office/drawing/2014/main" id="{CCD0D4B5-7863-DB67-36CB-2309EEE7B976}"/>
              </a:ext>
            </a:extLst>
          </p:cNvPr>
          <p:cNvSpPr/>
          <p:nvPr/>
        </p:nvSpPr>
        <p:spPr>
          <a:xfrm>
            <a:off x="6080760" y="1165860"/>
            <a:ext cx="5760720" cy="5349240"/>
          </a:xfrm>
          <a:prstGeom prst="roundRect">
            <a:avLst/>
          </a:prstGeom>
          <a:solidFill>
            <a:srgbClr val="222936"/>
          </a:solidFill>
          <a:ln w="15240">
            <a:solidFill>
              <a:srgbClr val="FF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6FDD5A-17E8-DFD1-DF7C-1309216C63CA}"/>
              </a:ext>
            </a:extLst>
          </p:cNvPr>
          <p:cNvSpPr txBox="1"/>
          <p:nvPr/>
        </p:nvSpPr>
        <p:spPr>
          <a:xfrm>
            <a:off x="8529417" y="1519732"/>
            <a:ext cx="991425" cy="25237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D34D"/>
                </a:solidFill>
                <a:latin typeface="Aptos Display"/>
              </a:defRPr>
            </a:pPr>
            <a:r>
              <a:rPr sz="1400" dirty="0"/>
              <a:t>ALGORITHM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BF3CBE5-FA60-4188-AB0C-3B54A6549E26}"/>
              </a:ext>
            </a:extLst>
          </p:cNvPr>
          <p:cNvSpPr txBox="1"/>
          <p:nvPr/>
        </p:nvSpPr>
        <p:spPr>
          <a:xfrm>
            <a:off x="6382512" y="1687068"/>
            <a:ext cx="246888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1600" b="1">
                <a:solidFill>
                  <a:srgbClr val="F8F9FC"/>
                </a:solidFill>
                <a:latin typeface="Aptos Display"/>
              </a:defRPr>
            </a:pPr>
            <a:r>
              <a:t>Trie / Prefix Tree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82E1514-4574-0C29-BA2E-608FB87A0675}"/>
              </a:ext>
            </a:extLst>
          </p:cNvPr>
          <p:cNvSpPr txBox="1"/>
          <p:nvPr/>
        </p:nvSpPr>
        <p:spPr>
          <a:xfrm>
            <a:off x="6382512" y="1988820"/>
            <a:ext cx="2807208" cy="3600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919" b="0">
                <a:solidFill>
                  <a:srgbClr val="B4BECD"/>
                </a:solidFill>
                <a:latin typeface="Aptos Display"/>
              </a:defRPr>
            </a:pPr>
            <a:r>
              <a:rPr sz="1050" dirty="0" err="1"/>
              <a:t>Mỗi</a:t>
            </a:r>
            <a:r>
              <a:rPr sz="1050" dirty="0"/>
              <a:t> </a:t>
            </a:r>
            <a:r>
              <a:rPr sz="1050" dirty="0" err="1"/>
              <a:t>cạnh</a:t>
            </a:r>
            <a:r>
              <a:rPr sz="1050" dirty="0"/>
              <a:t> = 1 </a:t>
            </a:r>
            <a:r>
              <a:rPr sz="1050" dirty="0" err="1"/>
              <a:t>ký</a:t>
            </a:r>
            <a:r>
              <a:rPr sz="1050" dirty="0"/>
              <a:t> </a:t>
            </a:r>
            <a:r>
              <a:rPr sz="1050" dirty="0" err="1"/>
              <a:t>tự</a:t>
            </a:r>
            <a:r>
              <a:rPr sz="1050" dirty="0"/>
              <a:t>. Node </a:t>
            </a:r>
            <a:r>
              <a:rPr sz="1050" dirty="0" err="1"/>
              <a:t>cuối</a:t>
            </a:r>
            <a:r>
              <a:rPr sz="1050" dirty="0"/>
              <a:t> prefix </a:t>
            </a:r>
            <a:r>
              <a:rPr sz="1050" dirty="0" err="1"/>
              <a:t>là</a:t>
            </a:r>
            <a:r>
              <a:rPr sz="1050" dirty="0"/>
              <a:t> “</a:t>
            </a:r>
            <a:r>
              <a:rPr sz="1050" dirty="0" err="1"/>
              <a:t>cửa</a:t>
            </a:r>
            <a:r>
              <a:rPr sz="1050" dirty="0"/>
              <a:t> </a:t>
            </a:r>
            <a:r>
              <a:rPr sz="1050" dirty="0" err="1"/>
              <a:t>vào</a:t>
            </a:r>
            <a:r>
              <a:rPr sz="1050" dirty="0"/>
              <a:t>” </a:t>
            </a:r>
            <a:r>
              <a:rPr sz="1050" dirty="0" err="1"/>
              <a:t>để</a:t>
            </a:r>
            <a:r>
              <a:rPr sz="1050" dirty="0"/>
              <a:t> </a:t>
            </a:r>
            <a:r>
              <a:rPr sz="1050" dirty="0" err="1"/>
              <a:t>lấy</a:t>
            </a:r>
            <a:r>
              <a:rPr sz="1050" dirty="0"/>
              <a:t> </a:t>
            </a:r>
            <a:r>
              <a:rPr sz="1050" dirty="0" err="1"/>
              <a:t>mọi</a:t>
            </a:r>
            <a:r>
              <a:rPr sz="1050" dirty="0"/>
              <a:t> recipe </a:t>
            </a:r>
            <a:r>
              <a:rPr sz="1050" dirty="0" err="1"/>
              <a:t>bên</a:t>
            </a:r>
            <a:r>
              <a:rPr sz="1050" dirty="0"/>
              <a:t> </a:t>
            </a:r>
            <a:r>
              <a:rPr sz="1050" dirty="0" err="1"/>
              <a:t>dưới</a:t>
            </a:r>
            <a:r>
              <a:rPr sz="1050" dirty="0"/>
              <a:t>.</a:t>
            </a:r>
          </a:p>
        </p:txBody>
      </p:sp>
      <p:sp>
        <p:nvSpPr>
          <p:cNvPr id="76" name="Rounded Rectangle 31">
            <a:extLst>
              <a:ext uri="{FF2B5EF4-FFF2-40B4-BE49-F238E27FC236}">
                <a16:creationId xmlns:a16="http://schemas.microsoft.com/office/drawing/2014/main" id="{4E8F0236-2E3B-4272-AB7C-79AB86CDF31C}"/>
              </a:ext>
            </a:extLst>
          </p:cNvPr>
          <p:cNvSpPr/>
          <p:nvPr/>
        </p:nvSpPr>
        <p:spPr>
          <a:xfrm>
            <a:off x="6510528" y="2455164"/>
            <a:ext cx="658368" cy="320040"/>
          </a:xfrm>
          <a:prstGeom prst="roundRect">
            <a:avLst/>
          </a:prstGeom>
          <a:solidFill>
            <a:srgbClr val="262014"/>
          </a:solidFill>
          <a:ln w="15240">
            <a:solidFill>
              <a:srgbClr val="FF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9FC"/>
                </a:solidFill>
                <a:latin typeface="Consolas"/>
              </a:defRPr>
            </a:pPr>
            <a:r>
              <a:t>root</a:t>
            </a:r>
          </a:p>
        </p:txBody>
      </p:sp>
      <p:sp>
        <p:nvSpPr>
          <p:cNvPr id="77" name="Rounded Rectangle 32">
            <a:extLst>
              <a:ext uri="{FF2B5EF4-FFF2-40B4-BE49-F238E27FC236}">
                <a16:creationId xmlns:a16="http://schemas.microsoft.com/office/drawing/2014/main" id="{BF3C8FB5-CDF9-4E7D-33BB-87C14C626C9A}"/>
              </a:ext>
            </a:extLst>
          </p:cNvPr>
          <p:cNvSpPr/>
          <p:nvPr/>
        </p:nvSpPr>
        <p:spPr>
          <a:xfrm>
            <a:off x="7543800" y="2455164"/>
            <a:ext cx="402336" cy="320040"/>
          </a:xfrm>
          <a:prstGeom prst="roundRect">
            <a:avLst/>
          </a:prstGeom>
          <a:solidFill>
            <a:srgbClr val="302816"/>
          </a:solidFill>
          <a:ln w="15240">
            <a:solidFill>
              <a:srgbClr val="FF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8F9FC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78" name="Rounded Rectangle 33">
            <a:extLst>
              <a:ext uri="{FF2B5EF4-FFF2-40B4-BE49-F238E27FC236}">
                <a16:creationId xmlns:a16="http://schemas.microsoft.com/office/drawing/2014/main" id="{3EA0E933-675E-CFA1-0C02-CDDEAE4E8010}"/>
              </a:ext>
            </a:extLst>
          </p:cNvPr>
          <p:cNvSpPr/>
          <p:nvPr/>
        </p:nvSpPr>
        <p:spPr>
          <a:xfrm>
            <a:off x="8375904" y="2455164"/>
            <a:ext cx="402336" cy="320040"/>
          </a:xfrm>
          <a:prstGeom prst="roundRect">
            <a:avLst/>
          </a:prstGeom>
          <a:solidFill>
            <a:srgbClr val="1A374B"/>
          </a:solidFill>
          <a:ln w="15240">
            <a:solidFill>
              <a:srgbClr val="55F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8F9FC"/>
                </a:solidFill>
                <a:latin typeface="Consolas"/>
              </a:defRPr>
            </a:pPr>
            <a:r>
              <a:t>a</a:t>
            </a:r>
          </a:p>
        </p:txBody>
      </p:sp>
      <p:cxnSp>
        <p:nvCxnSpPr>
          <p:cNvPr id="79" name="Connector 34">
            <a:extLst>
              <a:ext uri="{FF2B5EF4-FFF2-40B4-BE49-F238E27FC236}">
                <a16:creationId xmlns:a16="http://schemas.microsoft.com/office/drawing/2014/main" id="{7807370F-3591-4C86-C53C-889A8B70753B}"/>
              </a:ext>
            </a:extLst>
          </p:cNvPr>
          <p:cNvCxnSpPr/>
          <p:nvPr/>
        </p:nvCxnSpPr>
        <p:spPr>
          <a:xfrm>
            <a:off x="7168896" y="2619756"/>
            <a:ext cx="374904" cy="0"/>
          </a:xfrm>
          <a:prstGeom prst="line">
            <a:avLst/>
          </a:prstGeom>
          <a:ln w="15875">
            <a:solidFill>
              <a:srgbClr val="FFD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35">
            <a:extLst>
              <a:ext uri="{FF2B5EF4-FFF2-40B4-BE49-F238E27FC236}">
                <a16:creationId xmlns:a16="http://schemas.microsoft.com/office/drawing/2014/main" id="{251334CF-FA24-BE44-A24C-3F29D3639A6E}"/>
              </a:ext>
            </a:extLst>
          </p:cNvPr>
          <p:cNvCxnSpPr/>
          <p:nvPr/>
        </p:nvCxnSpPr>
        <p:spPr>
          <a:xfrm>
            <a:off x="7946136" y="2619756"/>
            <a:ext cx="429768" cy="0"/>
          </a:xfrm>
          <a:prstGeom prst="line">
            <a:avLst/>
          </a:prstGeom>
          <a:ln w="15875">
            <a:solidFill>
              <a:srgbClr val="FFD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38">
            <a:extLst>
              <a:ext uri="{FF2B5EF4-FFF2-40B4-BE49-F238E27FC236}">
                <a16:creationId xmlns:a16="http://schemas.microsoft.com/office/drawing/2014/main" id="{61616451-C718-7EB6-9FFC-F03CCA15691B}"/>
              </a:ext>
            </a:extLst>
          </p:cNvPr>
          <p:cNvSpPr/>
          <p:nvPr/>
        </p:nvSpPr>
        <p:spPr>
          <a:xfrm>
            <a:off x="9189720" y="2080259"/>
            <a:ext cx="402336" cy="320040"/>
          </a:xfrm>
          <a:prstGeom prst="roundRect">
            <a:avLst/>
          </a:prstGeom>
          <a:solidFill>
            <a:srgbClr val="202B3C"/>
          </a:solidFill>
          <a:ln w="15240">
            <a:solidFill>
              <a:srgbClr val="41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8F9FC"/>
                </a:solidFill>
                <a:latin typeface="Consolas"/>
              </a:defRPr>
            </a:pPr>
            <a:r>
              <a:t>r</a:t>
            </a:r>
          </a:p>
        </p:txBody>
      </p:sp>
      <p:cxnSp>
        <p:nvCxnSpPr>
          <p:cNvPr id="84" name="Connector 39">
            <a:extLst>
              <a:ext uri="{FF2B5EF4-FFF2-40B4-BE49-F238E27FC236}">
                <a16:creationId xmlns:a16="http://schemas.microsoft.com/office/drawing/2014/main" id="{9BFBAE4D-5568-C5D6-0C49-63F73CDD895C}"/>
              </a:ext>
            </a:extLst>
          </p:cNvPr>
          <p:cNvCxnSpPr/>
          <p:nvPr/>
        </p:nvCxnSpPr>
        <p:spPr>
          <a:xfrm flipV="1">
            <a:off x="8787384" y="2236552"/>
            <a:ext cx="411480" cy="374904"/>
          </a:xfrm>
          <a:prstGeom prst="line">
            <a:avLst/>
          </a:prstGeom>
          <a:ln w="12700">
            <a:solidFill>
              <a:srgbClr val="41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80413DF-9A54-5BDD-0BAE-80B6BFE62C95}"/>
              </a:ext>
            </a:extLst>
          </p:cNvPr>
          <p:cNvSpPr txBox="1"/>
          <p:nvPr/>
        </p:nvSpPr>
        <p:spPr>
          <a:xfrm>
            <a:off x="9720072" y="2139695"/>
            <a:ext cx="2331720" cy="182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819" b="0">
                <a:solidFill>
                  <a:srgbClr val="F8F9FC"/>
                </a:solidFill>
                <a:latin typeface="Aptos Display"/>
              </a:defRPr>
            </a:pPr>
            <a:r>
              <a:t>→ Margarita / Martini</a:t>
            </a:r>
          </a:p>
        </p:txBody>
      </p:sp>
      <p:sp>
        <p:nvSpPr>
          <p:cNvPr id="86" name="Rounded Rectangle 41">
            <a:extLst>
              <a:ext uri="{FF2B5EF4-FFF2-40B4-BE49-F238E27FC236}">
                <a16:creationId xmlns:a16="http://schemas.microsoft.com/office/drawing/2014/main" id="{229B7CE3-CD37-712E-716F-CE1F798BB543}"/>
              </a:ext>
            </a:extLst>
          </p:cNvPr>
          <p:cNvSpPr/>
          <p:nvPr/>
        </p:nvSpPr>
        <p:spPr>
          <a:xfrm>
            <a:off x="9189720" y="2537460"/>
            <a:ext cx="402336" cy="320040"/>
          </a:xfrm>
          <a:prstGeom prst="roundRect">
            <a:avLst/>
          </a:prstGeom>
          <a:solidFill>
            <a:srgbClr val="202B3C"/>
          </a:solidFill>
          <a:ln w="15240">
            <a:solidFill>
              <a:srgbClr val="41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8F9FC"/>
                </a:solidFill>
                <a:latin typeface="Consolas"/>
              </a:defRPr>
            </a:pPr>
            <a:r>
              <a:t>i</a:t>
            </a:r>
          </a:p>
        </p:txBody>
      </p:sp>
      <p:cxnSp>
        <p:nvCxnSpPr>
          <p:cNvPr id="87" name="Connector 42">
            <a:extLst>
              <a:ext uri="{FF2B5EF4-FFF2-40B4-BE49-F238E27FC236}">
                <a16:creationId xmlns:a16="http://schemas.microsoft.com/office/drawing/2014/main" id="{6E82613F-E96E-EED9-6AA8-1F335B7F2943}"/>
              </a:ext>
            </a:extLst>
          </p:cNvPr>
          <p:cNvCxnSpPr/>
          <p:nvPr/>
        </p:nvCxnSpPr>
        <p:spPr>
          <a:xfrm>
            <a:off x="8778240" y="2619756"/>
            <a:ext cx="411480" cy="82296"/>
          </a:xfrm>
          <a:prstGeom prst="line">
            <a:avLst/>
          </a:prstGeom>
          <a:ln w="12700">
            <a:solidFill>
              <a:srgbClr val="41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B94A752-2E46-9769-5D20-7C1878424BB9}"/>
              </a:ext>
            </a:extLst>
          </p:cNvPr>
          <p:cNvSpPr txBox="1"/>
          <p:nvPr/>
        </p:nvSpPr>
        <p:spPr>
          <a:xfrm>
            <a:off x="9720072" y="2596896"/>
            <a:ext cx="2331720" cy="182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819" b="0">
                <a:solidFill>
                  <a:srgbClr val="F8F9FC"/>
                </a:solidFill>
                <a:latin typeface="Aptos Display"/>
              </a:defRPr>
            </a:pPr>
            <a:r>
              <a:t>→ Mai Tai</a:t>
            </a:r>
          </a:p>
        </p:txBody>
      </p:sp>
      <p:sp>
        <p:nvSpPr>
          <p:cNvPr id="89" name="Rounded Rectangle 44">
            <a:extLst>
              <a:ext uri="{FF2B5EF4-FFF2-40B4-BE49-F238E27FC236}">
                <a16:creationId xmlns:a16="http://schemas.microsoft.com/office/drawing/2014/main" id="{5716A40C-908D-4569-F92D-C21C8C17ACDE}"/>
              </a:ext>
            </a:extLst>
          </p:cNvPr>
          <p:cNvSpPr/>
          <p:nvPr/>
        </p:nvSpPr>
        <p:spPr>
          <a:xfrm>
            <a:off x="9189720" y="2994660"/>
            <a:ext cx="402336" cy="320040"/>
          </a:xfrm>
          <a:prstGeom prst="roundRect">
            <a:avLst/>
          </a:prstGeom>
          <a:solidFill>
            <a:srgbClr val="202B3C"/>
          </a:solidFill>
          <a:ln w="15240">
            <a:solidFill>
              <a:srgbClr val="41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8F9FC"/>
                </a:solidFill>
                <a:latin typeface="Consolas"/>
              </a:defRPr>
            </a:pPr>
            <a:r>
              <a:t>n</a:t>
            </a:r>
          </a:p>
        </p:txBody>
      </p:sp>
      <p:cxnSp>
        <p:nvCxnSpPr>
          <p:cNvPr id="90" name="Connector 45">
            <a:extLst>
              <a:ext uri="{FF2B5EF4-FFF2-40B4-BE49-F238E27FC236}">
                <a16:creationId xmlns:a16="http://schemas.microsoft.com/office/drawing/2014/main" id="{AAE97B29-9FAE-731D-7D7F-01803AD5AB13}"/>
              </a:ext>
            </a:extLst>
          </p:cNvPr>
          <p:cNvCxnSpPr/>
          <p:nvPr/>
        </p:nvCxnSpPr>
        <p:spPr>
          <a:xfrm>
            <a:off x="8778240" y="2619756"/>
            <a:ext cx="411480" cy="539496"/>
          </a:xfrm>
          <a:prstGeom prst="line">
            <a:avLst/>
          </a:prstGeom>
          <a:ln w="12700">
            <a:solidFill>
              <a:srgbClr val="41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0788FB00-123A-5239-C51C-306F6DCD11D6}"/>
              </a:ext>
            </a:extLst>
          </p:cNvPr>
          <p:cNvSpPr txBox="1"/>
          <p:nvPr/>
        </p:nvSpPr>
        <p:spPr>
          <a:xfrm>
            <a:off x="9720072" y="3054096"/>
            <a:ext cx="2331720" cy="182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819" b="0">
                <a:solidFill>
                  <a:srgbClr val="F8F9FC"/>
                </a:solidFill>
                <a:latin typeface="Aptos Display"/>
              </a:defRPr>
            </a:pPr>
            <a:r>
              <a:t>→ Manhattan</a:t>
            </a:r>
          </a:p>
        </p:txBody>
      </p:sp>
      <p:sp>
        <p:nvSpPr>
          <p:cNvPr id="92" name="Rounded Rectangle 47">
            <a:extLst>
              <a:ext uri="{FF2B5EF4-FFF2-40B4-BE49-F238E27FC236}">
                <a16:creationId xmlns:a16="http://schemas.microsoft.com/office/drawing/2014/main" id="{FEA92EF4-71E9-269E-5F5E-E904D8714CE9}"/>
              </a:ext>
            </a:extLst>
          </p:cNvPr>
          <p:cNvSpPr/>
          <p:nvPr/>
        </p:nvSpPr>
        <p:spPr>
          <a:xfrm>
            <a:off x="7488936" y="2372868"/>
            <a:ext cx="1344168" cy="484632"/>
          </a:xfrm>
          <a:prstGeom prst="roundRect">
            <a:avLst/>
          </a:prstGeom>
          <a:noFill/>
          <a:ln w="20320">
            <a:solidFill>
              <a:srgbClr val="55F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4CAAA8A-4865-8AE7-BBD1-FCBCC8DCBFE8}"/>
              </a:ext>
            </a:extLst>
          </p:cNvPr>
          <p:cNvSpPr txBox="1"/>
          <p:nvPr/>
        </p:nvSpPr>
        <p:spPr>
          <a:xfrm>
            <a:off x="6382512" y="3515868"/>
            <a:ext cx="347472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1250" b="1">
                <a:solidFill>
                  <a:srgbClr val="FFD34D"/>
                </a:solidFill>
                <a:latin typeface="Aptos Display"/>
              </a:defRPr>
            </a:pPr>
            <a:r>
              <a:t>Quy trình chạy khi người chơi gõ:</a:t>
            </a:r>
          </a:p>
        </p:txBody>
      </p:sp>
      <p:sp>
        <p:nvSpPr>
          <p:cNvPr id="94" name="Rounded Rectangle 49">
            <a:extLst>
              <a:ext uri="{FF2B5EF4-FFF2-40B4-BE49-F238E27FC236}">
                <a16:creationId xmlns:a16="http://schemas.microsoft.com/office/drawing/2014/main" id="{F85CB378-598E-625F-1269-26222EE41166}"/>
              </a:ext>
            </a:extLst>
          </p:cNvPr>
          <p:cNvSpPr/>
          <p:nvPr/>
        </p:nvSpPr>
        <p:spPr>
          <a:xfrm>
            <a:off x="6446520" y="3845052"/>
            <a:ext cx="1737360" cy="310896"/>
          </a:xfrm>
          <a:prstGeom prst="roundRect">
            <a:avLst/>
          </a:prstGeom>
          <a:solidFill>
            <a:srgbClr val="121722"/>
          </a:solidFill>
          <a:ln w="10160">
            <a:solidFill>
              <a:srgbClr val="4B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AFD4852-8C29-E7D2-21A8-8BD48885B2A4}"/>
              </a:ext>
            </a:extLst>
          </p:cNvPr>
          <p:cNvSpPr txBox="1"/>
          <p:nvPr/>
        </p:nvSpPr>
        <p:spPr>
          <a:xfrm>
            <a:off x="6528816" y="3909060"/>
            <a:ext cx="922176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780" b="1">
                <a:solidFill>
                  <a:srgbClr val="64DC82"/>
                </a:solidFill>
                <a:latin typeface="Aptos Display"/>
              </a:defRPr>
            </a:pPr>
            <a:r>
              <a:rPr sz="1200" dirty="0"/>
              <a:t>insert(recipe)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6201C9E-9590-1AF1-BE5C-40A653617D74}"/>
              </a:ext>
            </a:extLst>
          </p:cNvPr>
          <p:cNvSpPr txBox="1"/>
          <p:nvPr/>
        </p:nvSpPr>
        <p:spPr>
          <a:xfrm>
            <a:off x="8302752" y="3881627"/>
            <a:ext cx="3098541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840" b="0">
                <a:solidFill>
                  <a:srgbClr val="F8F9FC"/>
                </a:solidFill>
                <a:latin typeface="Aptos Display"/>
              </a:defRPr>
            </a:pPr>
            <a:r>
              <a:rPr sz="1200" dirty="0" err="1"/>
              <a:t>Nạp</a:t>
            </a:r>
            <a:r>
              <a:rPr sz="1200" dirty="0"/>
              <a:t> </a:t>
            </a:r>
            <a:r>
              <a:rPr sz="1200" dirty="0" err="1"/>
              <a:t>tên</a:t>
            </a:r>
            <a:r>
              <a:rPr sz="1200" dirty="0"/>
              <a:t> </a:t>
            </a:r>
            <a:r>
              <a:rPr sz="1200" dirty="0" err="1"/>
              <a:t>món</a:t>
            </a:r>
            <a:r>
              <a:rPr sz="1200" dirty="0"/>
              <a:t> </a:t>
            </a:r>
            <a:r>
              <a:rPr sz="1200" dirty="0" err="1"/>
              <a:t>vào</a:t>
            </a:r>
            <a:r>
              <a:rPr sz="1200" dirty="0"/>
              <a:t> </a:t>
            </a:r>
            <a:r>
              <a:rPr sz="1200" dirty="0" err="1"/>
              <a:t>cây</a:t>
            </a:r>
            <a:r>
              <a:rPr sz="1200" dirty="0"/>
              <a:t>: Margarita, Martini, Mai Tai…</a:t>
            </a:r>
          </a:p>
        </p:txBody>
      </p:sp>
      <p:sp>
        <p:nvSpPr>
          <p:cNvPr id="97" name="Rounded Rectangle 52">
            <a:extLst>
              <a:ext uri="{FF2B5EF4-FFF2-40B4-BE49-F238E27FC236}">
                <a16:creationId xmlns:a16="http://schemas.microsoft.com/office/drawing/2014/main" id="{09305490-A34C-F7EE-ADA0-DACD1AFC64BE}"/>
              </a:ext>
            </a:extLst>
          </p:cNvPr>
          <p:cNvSpPr/>
          <p:nvPr/>
        </p:nvSpPr>
        <p:spPr>
          <a:xfrm>
            <a:off x="6446520" y="4293108"/>
            <a:ext cx="1737360" cy="310896"/>
          </a:xfrm>
          <a:prstGeom prst="roundRect">
            <a:avLst/>
          </a:prstGeom>
          <a:solidFill>
            <a:srgbClr val="121722"/>
          </a:solidFill>
          <a:ln w="10160">
            <a:solidFill>
              <a:srgbClr val="4B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D240BE0-0A3F-5441-2557-547427493C7D}"/>
              </a:ext>
            </a:extLst>
          </p:cNvPr>
          <p:cNvSpPr txBox="1"/>
          <p:nvPr/>
        </p:nvSpPr>
        <p:spPr>
          <a:xfrm>
            <a:off x="6528816" y="4357116"/>
            <a:ext cx="1364989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780" b="1">
                <a:solidFill>
                  <a:srgbClr val="55F2D3"/>
                </a:solidFill>
                <a:latin typeface="Aptos Display"/>
              </a:defRPr>
            </a:pPr>
            <a:r>
              <a:rPr sz="1200" dirty="0" err="1"/>
              <a:t>search_prefix</a:t>
            </a:r>
            <a:r>
              <a:rPr sz="1200" dirty="0"/>
              <a:t>("ma")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14216A0-F893-E68A-B1EE-17586FE7E12E}"/>
              </a:ext>
            </a:extLst>
          </p:cNvPr>
          <p:cNvSpPr txBox="1"/>
          <p:nvPr/>
        </p:nvSpPr>
        <p:spPr>
          <a:xfrm>
            <a:off x="8302752" y="4329684"/>
            <a:ext cx="3256854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840" b="0">
                <a:solidFill>
                  <a:srgbClr val="F8F9FC"/>
                </a:solidFill>
                <a:latin typeface="Aptos Display"/>
              </a:defRPr>
            </a:pPr>
            <a:r>
              <a:rPr sz="1200" dirty="0" err="1"/>
              <a:t>Đi</a:t>
            </a:r>
            <a:r>
              <a:rPr sz="1200" dirty="0"/>
              <a:t> </a:t>
            </a:r>
            <a:r>
              <a:rPr sz="1200" dirty="0" err="1"/>
              <a:t>theo</a:t>
            </a:r>
            <a:r>
              <a:rPr sz="1200" dirty="0"/>
              <a:t> </a:t>
            </a:r>
            <a:r>
              <a:rPr sz="1200" dirty="0" err="1"/>
              <a:t>từng</a:t>
            </a:r>
            <a:r>
              <a:rPr sz="1200" dirty="0"/>
              <a:t> </a:t>
            </a:r>
            <a:r>
              <a:rPr sz="1200" dirty="0" err="1"/>
              <a:t>ký</a:t>
            </a:r>
            <a:r>
              <a:rPr sz="1200" dirty="0"/>
              <a:t> </a:t>
            </a:r>
            <a:r>
              <a:rPr sz="1200" dirty="0" err="1"/>
              <a:t>tự</a:t>
            </a:r>
            <a:r>
              <a:rPr sz="1200" dirty="0"/>
              <a:t> m → a. Sai </a:t>
            </a:r>
            <a:r>
              <a:rPr sz="1200" dirty="0" err="1"/>
              <a:t>ký</a:t>
            </a:r>
            <a:r>
              <a:rPr sz="1200" dirty="0"/>
              <a:t> </a:t>
            </a:r>
            <a:r>
              <a:rPr sz="1200" dirty="0" err="1"/>
              <a:t>tự</a:t>
            </a:r>
            <a:r>
              <a:rPr sz="1200" dirty="0"/>
              <a:t> </a:t>
            </a:r>
            <a:r>
              <a:rPr sz="1200" dirty="0" err="1"/>
              <a:t>nào</a:t>
            </a:r>
            <a:r>
              <a:rPr sz="1200" dirty="0"/>
              <a:t> </a:t>
            </a:r>
            <a:r>
              <a:rPr sz="1200" dirty="0" err="1"/>
              <a:t>thì</a:t>
            </a:r>
            <a:r>
              <a:rPr sz="1200" dirty="0"/>
              <a:t> </a:t>
            </a:r>
            <a:r>
              <a:rPr sz="1200" dirty="0" err="1"/>
              <a:t>trả</a:t>
            </a:r>
            <a:r>
              <a:rPr sz="1200" dirty="0"/>
              <a:t> </a:t>
            </a:r>
            <a:r>
              <a:rPr sz="1200" dirty="0" err="1"/>
              <a:t>về</a:t>
            </a:r>
            <a:r>
              <a:rPr sz="1200" dirty="0"/>
              <a:t> </a:t>
            </a:r>
            <a:r>
              <a:rPr sz="1200" dirty="0" err="1"/>
              <a:t>rỗng</a:t>
            </a:r>
            <a:r>
              <a:rPr sz="1200" dirty="0"/>
              <a:t>.</a:t>
            </a:r>
          </a:p>
        </p:txBody>
      </p:sp>
      <p:sp>
        <p:nvSpPr>
          <p:cNvPr id="100" name="Rounded Rectangle 55">
            <a:extLst>
              <a:ext uri="{FF2B5EF4-FFF2-40B4-BE49-F238E27FC236}">
                <a16:creationId xmlns:a16="http://schemas.microsoft.com/office/drawing/2014/main" id="{4ECC1D2C-5B40-D682-7D6E-FE42358259A6}"/>
              </a:ext>
            </a:extLst>
          </p:cNvPr>
          <p:cNvSpPr/>
          <p:nvPr/>
        </p:nvSpPr>
        <p:spPr>
          <a:xfrm>
            <a:off x="6446520" y="4741164"/>
            <a:ext cx="1737360" cy="310896"/>
          </a:xfrm>
          <a:prstGeom prst="roundRect">
            <a:avLst/>
          </a:prstGeom>
          <a:solidFill>
            <a:srgbClr val="121722"/>
          </a:solidFill>
          <a:ln w="10160">
            <a:solidFill>
              <a:srgbClr val="4B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326D2D5-7A3D-CA85-32D4-0AE0446B0AC3}"/>
              </a:ext>
            </a:extLst>
          </p:cNvPr>
          <p:cNvSpPr txBox="1"/>
          <p:nvPr/>
        </p:nvSpPr>
        <p:spPr>
          <a:xfrm>
            <a:off x="6528816" y="4805172"/>
            <a:ext cx="1088503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780" b="1">
                <a:solidFill>
                  <a:srgbClr val="55F2D3"/>
                </a:solidFill>
                <a:latin typeface="Aptos Display"/>
              </a:defRPr>
            </a:pPr>
            <a:r>
              <a:rPr sz="1200" dirty="0"/>
              <a:t>DFS </a:t>
            </a:r>
            <a:r>
              <a:rPr sz="1200" dirty="0" err="1"/>
              <a:t>từ</a:t>
            </a:r>
            <a:r>
              <a:rPr sz="1200" dirty="0"/>
              <a:t> node “a”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EF1F1B2-4F2E-D984-13DC-C526087A58F3}"/>
              </a:ext>
            </a:extLst>
          </p:cNvPr>
          <p:cNvSpPr txBox="1"/>
          <p:nvPr/>
        </p:nvSpPr>
        <p:spPr>
          <a:xfrm>
            <a:off x="8302752" y="4777740"/>
            <a:ext cx="3102452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840" b="0">
                <a:solidFill>
                  <a:srgbClr val="F8F9FC"/>
                </a:solidFill>
                <a:latin typeface="Aptos Display"/>
              </a:defRPr>
            </a:pPr>
            <a:r>
              <a:rPr sz="1200" dirty="0"/>
              <a:t>Thu </a:t>
            </a:r>
            <a:r>
              <a:rPr sz="1200" dirty="0" err="1"/>
              <a:t>thập</a:t>
            </a:r>
            <a:r>
              <a:rPr sz="1200" dirty="0"/>
              <a:t> </a:t>
            </a:r>
            <a:r>
              <a:rPr sz="1200" dirty="0" err="1"/>
              <a:t>toàn</a:t>
            </a:r>
            <a:r>
              <a:rPr sz="1200" dirty="0"/>
              <a:t> </a:t>
            </a:r>
            <a:r>
              <a:rPr sz="1200" dirty="0" err="1"/>
              <a:t>bộ</a:t>
            </a:r>
            <a:r>
              <a:rPr sz="1200" dirty="0"/>
              <a:t> node </a:t>
            </a:r>
            <a:r>
              <a:rPr sz="1200" dirty="0" err="1"/>
              <a:t>is_end</a:t>
            </a:r>
            <a:r>
              <a:rPr sz="1200" dirty="0"/>
              <a:t>=True </a:t>
            </a:r>
            <a:r>
              <a:rPr sz="1200" dirty="0" err="1"/>
              <a:t>trong</a:t>
            </a:r>
            <a:r>
              <a:rPr sz="1200" dirty="0"/>
              <a:t> </a:t>
            </a:r>
            <a:r>
              <a:rPr sz="1200" dirty="0" err="1"/>
              <a:t>cây</a:t>
            </a:r>
            <a:r>
              <a:rPr sz="1200" dirty="0"/>
              <a:t> con.</a:t>
            </a:r>
          </a:p>
        </p:txBody>
      </p:sp>
      <p:sp>
        <p:nvSpPr>
          <p:cNvPr id="103" name="Rounded Rectangle 58">
            <a:extLst>
              <a:ext uri="{FF2B5EF4-FFF2-40B4-BE49-F238E27FC236}">
                <a16:creationId xmlns:a16="http://schemas.microsoft.com/office/drawing/2014/main" id="{42EC4557-F445-3769-89EE-3B726858789A}"/>
              </a:ext>
            </a:extLst>
          </p:cNvPr>
          <p:cNvSpPr/>
          <p:nvPr/>
        </p:nvSpPr>
        <p:spPr>
          <a:xfrm>
            <a:off x="6446520" y="5189220"/>
            <a:ext cx="1737360" cy="310896"/>
          </a:xfrm>
          <a:prstGeom prst="roundRect">
            <a:avLst/>
          </a:prstGeom>
          <a:solidFill>
            <a:srgbClr val="121722"/>
          </a:solidFill>
          <a:ln w="10160">
            <a:solidFill>
              <a:srgbClr val="4B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22F25C4-2091-A04A-10A6-D1311CBE022A}"/>
              </a:ext>
            </a:extLst>
          </p:cNvPr>
          <p:cNvSpPr txBox="1"/>
          <p:nvPr/>
        </p:nvSpPr>
        <p:spPr>
          <a:xfrm>
            <a:off x="6528816" y="5253228"/>
            <a:ext cx="919098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780" b="1">
                <a:solidFill>
                  <a:srgbClr val="55F2D3"/>
                </a:solidFill>
                <a:latin typeface="Aptos Display"/>
              </a:defRPr>
            </a:pPr>
            <a:r>
              <a:rPr sz="1200" dirty="0"/>
              <a:t>return results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DCAF7F8-E45A-0E0C-CF5D-E46C5D5E912F}"/>
              </a:ext>
            </a:extLst>
          </p:cNvPr>
          <p:cNvSpPr txBox="1"/>
          <p:nvPr/>
        </p:nvSpPr>
        <p:spPr>
          <a:xfrm>
            <a:off x="8302752" y="5225796"/>
            <a:ext cx="3635482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840" b="0">
                <a:solidFill>
                  <a:srgbClr val="F8F9FC"/>
                </a:solidFill>
                <a:latin typeface="Aptos Display"/>
              </a:defRPr>
            </a:pPr>
            <a:r>
              <a:rPr sz="1200" dirty="0" err="1"/>
              <a:t>Đổ</a:t>
            </a:r>
            <a:r>
              <a:rPr sz="1200" dirty="0"/>
              <a:t> </a:t>
            </a:r>
            <a:r>
              <a:rPr sz="1200" dirty="0" err="1"/>
              <a:t>danh</a:t>
            </a:r>
            <a:r>
              <a:rPr sz="1200" dirty="0"/>
              <a:t> </a:t>
            </a:r>
            <a:r>
              <a:rPr sz="1200" dirty="0" err="1"/>
              <a:t>sách</a:t>
            </a:r>
            <a:r>
              <a:rPr sz="1200" dirty="0"/>
              <a:t> </a:t>
            </a:r>
            <a:r>
              <a:rPr sz="1200" dirty="0" err="1"/>
              <a:t>vào</a:t>
            </a:r>
            <a:r>
              <a:rPr sz="1200" dirty="0"/>
              <a:t> </a:t>
            </a:r>
            <a:r>
              <a:rPr sz="1200" dirty="0" err="1"/>
              <a:t>SearchBar</a:t>
            </a:r>
            <a:r>
              <a:rPr sz="1200" dirty="0"/>
              <a:t> </a:t>
            </a:r>
            <a:r>
              <a:rPr sz="1200" dirty="0" err="1"/>
              <a:t>để</a:t>
            </a:r>
            <a:r>
              <a:rPr sz="1200" dirty="0"/>
              <a:t> user </a:t>
            </a:r>
            <a:r>
              <a:rPr sz="1200" dirty="0" err="1"/>
              <a:t>chọn</a:t>
            </a:r>
            <a:r>
              <a:rPr sz="1200" dirty="0"/>
              <a:t> / pin </a:t>
            </a:r>
            <a:r>
              <a:rPr sz="1200" dirty="0" err="1"/>
              <a:t>công</a:t>
            </a:r>
            <a:r>
              <a:rPr sz="1200" dirty="0"/>
              <a:t> </a:t>
            </a:r>
            <a:r>
              <a:rPr sz="1200" dirty="0" err="1"/>
              <a:t>thức</a:t>
            </a:r>
            <a:r>
              <a:rPr sz="1200" dirty="0"/>
              <a:t>.</a:t>
            </a:r>
          </a:p>
        </p:txBody>
      </p:sp>
      <p:sp>
        <p:nvSpPr>
          <p:cNvPr id="106" name="Rounded Rectangle 61">
            <a:extLst>
              <a:ext uri="{FF2B5EF4-FFF2-40B4-BE49-F238E27FC236}">
                <a16:creationId xmlns:a16="http://schemas.microsoft.com/office/drawing/2014/main" id="{F273E5F2-CFCB-ECB7-87BA-F5407D1BFDEC}"/>
              </a:ext>
            </a:extLst>
          </p:cNvPr>
          <p:cNvSpPr/>
          <p:nvPr/>
        </p:nvSpPr>
        <p:spPr>
          <a:xfrm>
            <a:off x="6446520" y="5728716"/>
            <a:ext cx="4800600" cy="502920"/>
          </a:xfrm>
          <a:prstGeom prst="roundRect">
            <a:avLst/>
          </a:prstGeom>
          <a:solidFill>
            <a:srgbClr val="1E222C"/>
          </a:solidFill>
          <a:ln w="12700">
            <a:solidFill>
              <a:srgbClr val="FF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A6A9CD4-C1EE-6162-341F-EF488D7C362E}"/>
              </a:ext>
            </a:extLst>
          </p:cNvPr>
          <p:cNvSpPr txBox="1"/>
          <p:nvPr/>
        </p:nvSpPr>
        <p:spPr>
          <a:xfrm>
            <a:off x="6583680" y="5897880"/>
            <a:ext cx="96012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950" b="1">
                <a:solidFill>
                  <a:srgbClr val="FFD34D"/>
                </a:solidFill>
                <a:latin typeface="Aptos Display"/>
              </a:defRPr>
            </a:pP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phức</a:t>
            </a:r>
            <a:r>
              <a:rPr dirty="0"/>
              <a:t> </a:t>
            </a:r>
            <a:r>
              <a:rPr dirty="0" err="1"/>
              <a:t>tạp</a:t>
            </a:r>
            <a:r>
              <a:rPr dirty="0"/>
              <a:t>: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9BC65A9-5911-EF3E-F29D-CF1CF9B044D1}"/>
              </a:ext>
            </a:extLst>
          </p:cNvPr>
          <p:cNvSpPr txBox="1"/>
          <p:nvPr/>
        </p:nvSpPr>
        <p:spPr>
          <a:xfrm>
            <a:off x="7571231" y="5838444"/>
            <a:ext cx="2834640" cy="16459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950" b="1">
                <a:solidFill>
                  <a:srgbClr val="F8F9FC"/>
                </a:solidFill>
                <a:latin typeface="Aptos Display"/>
              </a:defRPr>
            </a:pPr>
            <a:r>
              <a:t>tìm prefix O(L)  +  duyệt kết quả O(K)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DA5F0E3-C2F8-D893-57D5-764BC4DB8BA4}"/>
              </a:ext>
            </a:extLst>
          </p:cNvPr>
          <p:cNvSpPr txBox="1"/>
          <p:nvPr/>
        </p:nvSpPr>
        <p:spPr>
          <a:xfrm>
            <a:off x="7571231" y="6039612"/>
            <a:ext cx="2651760" cy="1371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>
              <a:defRPr sz="750" b="0">
                <a:solidFill>
                  <a:srgbClr val="B4BECD"/>
                </a:solidFill>
                <a:latin typeface="Aptos Display"/>
              </a:defRPr>
            </a:pPr>
            <a:r>
              <a:t>L = độ dài từ khóa, K = số recipe khớp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BB971854-8202-FA60-21A7-AE2BCE6EB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264" y="4211939"/>
            <a:ext cx="3725109" cy="173064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D666"/>
                </a:solidFill>
                <a:latin typeface="Aptos"/>
              </a:rPr>
              <a:t>6. Mixing engine: pha chế, nhận diện món và chấm điểm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486400" cy="516636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12720" y="1417320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63E6BE"/>
                </a:solidFill>
                <a:latin typeface="Aptos"/>
              </a:rPr>
              <a:t>GAMEPLAY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42062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3F5F7"/>
                </a:solidFill>
                <a:latin typeface="Aptos"/>
              </a:rPr>
              <a:t>Chuỗi thao tác của người chơi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16352"/>
            <a:ext cx="448056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128" y="2944368"/>
            <a:ext cx="301752" cy="164592"/>
          </a:xfrm>
          <a:prstGeom prst="roundRect">
            <a:avLst/>
          </a:prstGeom>
          <a:solidFill>
            <a:srgbClr val="FFD666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1820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62072"/>
            <a:ext cx="3474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0" dirty="0" err="1">
                <a:solidFill>
                  <a:srgbClr val="F3F5F7"/>
                </a:solidFill>
                <a:latin typeface="Aptos"/>
              </a:rPr>
              <a:t>Kéo</a:t>
            </a:r>
            <a:r>
              <a:rPr sz="1450" b="0" dirty="0">
                <a:solidFill>
                  <a:srgbClr val="F3F5F7"/>
                </a:solidFill>
                <a:latin typeface="Aptos"/>
              </a:rPr>
              <a:t> chai </a:t>
            </a:r>
            <a:r>
              <a:rPr sz="1450" b="0" dirty="0" err="1">
                <a:solidFill>
                  <a:srgbClr val="F3F5F7"/>
                </a:solidFill>
                <a:latin typeface="Aptos"/>
              </a:rPr>
              <a:t>vào</a:t>
            </a:r>
            <a:r>
              <a:rPr sz="1450" b="0" dirty="0">
                <a:solidFill>
                  <a:srgbClr val="F3F5F7"/>
                </a:solidFill>
                <a:latin typeface="Aptos"/>
              </a:rPr>
              <a:t> shaker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74720"/>
            <a:ext cx="448056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4128" y="3602736"/>
            <a:ext cx="301752" cy="164592"/>
          </a:xfrm>
          <a:prstGeom prst="roundRect">
            <a:avLst/>
          </a:prstGeom>
          <a:solidFill>
            <a:srgbClr val="FFD666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1820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17392"/>
            <a:ext cx="3474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0" dirty="0">
                <a:solidFill>
                  <a:srgbClr val="F3F5F7"/>
                </a:solidFill>
                <a:latin typeface="Aptos"/>
              </a:rPr>
              <a:t>Rót </a:t>
            </a:r>
            <a:r>
              <a:rPr sz="1450" b="0" dirty="0" err="1">
                <a:solidFill>
                  <a:srgbClr val="F3F5F7"/>
                </a:solidFill>
                <a:latin typeface="Aptos"/>
              </a:rPr>
              <a:t>nguyên</a:t>
            </a:r>
            <a:r>
              <a:rPr sz="1450" b="0" dirty="0">
                <a:solidFill>
                  <a:srgbClr val="F3F5F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F3F5F7"/>
                </a:solidFill>
                <a:latin typeface="Aptos"/>
              </a:rPr>
              <a:t>liệu</a:t>
            </a:r>
            <a:endParaRPr sz="1450" b="0" dirty="0">
              <a:solidFill>
                <a:srgbClr val="F3F5F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4400" y="4133088"/>
            <a:ext cx="448056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4128" y="4261104"/>
            <a:ext cx="301752" cy="164592"/>
          </a:xfrm>
          <a:prstGeom prst="roundRect">
            <a:avLst/>
          </a:prstGeom>
          <a:solidFill>
            <a:srgbClr val="FFD666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41820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78808"/>
            <a:ext cx="3474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0" dirty="0" err="1">
                <a:solidFill>
                  <a:srgbClr val="F3F5F7"/>
                </a:solidFill>
                <a:latin typeface="Aptos"/>
              </a:rPr>
              <a:t>Đậy</a:t>
            </a:r>
            <a:r>
              <a:rPr sz="1450" b="0" dirty="0">
                <a:solidFill>
                  <a:srgbClr val="F3F5F7"/>
                </a:solidFill>
                <a:latin typeface="Aptos"/>
              </a:rPr>
              <a:t> </a:t>
            </a:r>
            <a:r>
              <a:rPr sz="1450" b="0" dirty="0" err="1">
                <a:solidFill>
                  <a:srgbClr val="F3F5F7"/>
                </a:solidFill>
                <a:latin typeface="Aptos"/>
              </a:rPr>
              <a:t>nắp</a:t>
            </a:r>
            <a:r>
              <a:rPr sz="1450" b="0" dirty="0">
                <a:solidFill>
                  <a:srgbClr val="F3F5F7"/>
                </a:solidFill>
                <a:latin typeface="Aptos"/>
              </a:rPr>
              <a:t> &amp; </a:t>
            </a:r>
            <a:r>
              <a:rPr sz="1450" b="0" dirty="0" err="1">
                <a:solidFill>
                  <a:srgbClr val="F3F5F7"/>
                </a:solidFill>
                <a:latin typeface="Aptos"/>
              </a:rPr>
              <a:t>lắc</a:t>
            </a:r>
            <a:endParaRPr sz="1450" b="0" dirty="0">
              <a:solidFill>
                <a:srgbClr val="F3F5F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4400" y="4791456"/>
            <a:ext cx="4480560" cy="420624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4128" y="4919472"/>
            <a:ext cx="301752" cy="164592"/>
          </a:xfrm>
          <a:prstGeom prst="roundRect">
            <a:avLst/>
          </a:prstGeom>
          <a:solidFill>
            <a:srgbClr val="FFD666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141820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837176"/>
            <a:ext cx="3474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0" dirty="0">
                <a:solidFill>
                  <a:srgbClr val="F3F5F7"/>
                </a:solidFill>
                <a:latin typeface="Aptos"/>
              </a:rPr>
              <a:t>Serve </a:t>
            </a:r>
            <a:r>
              <a:rPr sz="1450" b="0" dirty="0" err="1">
                <a:solidFill>
                  <a:srgbClr val="F3F5F7"/>
                </a:solidFill>
                <a:latin typeface="Aptos"/>
              </a:rPr>
              <a:t>khách</a:t>
            </a:r>
            <a:endParaRPr sz="1450" b="0" dirty="0">
              <a:solidFill>
                <a:srgbClr val="F3F5F7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09360" y="1234440"/>
            <a:ext cx="5257800" cy="516636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1417320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FFD666"/>
                </a:solidFill>
                <a:latin typeface="Aptos"/>
              </a:rPr>
              <a:t>ALGORITHM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719072"/>
            <a:ext cx="4389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3F5F7"/>
                </a:solidFill>
                <a:latin typeface="Aptos"/>
              </a:rPr>
              <a:t>LiquidShaker + identify_drink()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162556"/>
            <a:ext cx="4663440" cy="109728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48272" y="2281428"/>
            <a:ext cx="12801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FFD666"/>
                </a:solidFill>
                <a:latin typeface="Aptos"/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2555748"/>
            <a:ext cx="40233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3F5F7"/>
                </a:solidFill>
                <a:latin typeface="Aptos"/>
              </a:rPr>
              <a:t>≤10% error → x1.5 | ≤20% → x1.0 | ≤30% → x0.7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 dirty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 dirty="0">
                <a:solidFill>
                  <a:srgbClr val="FFD666"/>
                </a:solidFill>
                <a:latin typeface="Aptos"/>
              </a:rPr>
              <a:t>7. Inventory </a:t>
            </a:r>
            <a:r>
              <a:rPr sz="2600" b="1" dirty="0" err="1">
                <a:solidFill>
                  <a:srgbClr val="FFD666"/>
                </a:solidFill>
                <a:latin typeface="Aptos"/>
              </a:rPr>
              <a:t>và</a:t>
            </a:r>
            <a:r>
              <a:rPr sz="2600" b="1" dirty="0">
                <a:solidFill>
                  <a:srgbClr val="FFD666"/>
                </a:solidFill>
                <a:latin typeface="Aptos"/>
              </a:rPr>
              <a:t> leaderboard: </a:t>
            </a:r>
            <a:r>
              <a:rPr sz="2600" b="1" dirty="0" err="1">
                <a:solidFill>
                  <a:srgbClr val="FFD666"/>
                </a:solidFill>
                <a:latin typeface="Aptos"/>
              </a:rPr>
              <a:t>dữ</a:t>
            </a:r>
            <a:r>
              <a:rPr sz="2600" b="1" dirty="0">
                <a:solidFill>
                  <a:srgbClr val="FFD666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FFD666"/>
                </a:solidFill>
                <a:latin typeface="Aptos"/>
              </a:rPr>
              <a:t>liệu</a:t>
            </a:r>
            <a:r>
              <a:rPr sz="2600" b="1" dirty="0">
                <a:solidFill>
                  <a:srgbClr val="FFD666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FFD666"/>
                </a:solidFill>
                <a:latin typeface="Aptos"/>
              </a:rPr>
              <a:t>phải</a:t>
            </a:r>
            <a:r>
              <a:rPr sz="2600" b="1" dirty="0">
                <a:solidFill>
                  <a:srgbClr val="FFD666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FFD666"/>
                </a:solidFill>
                <a:latin typeface="Aptos"/>
              </a:rPr>
              <a:t>được</a:t>
            </a:r>
            <a:r>
              <a:rPr sz="2600" b="1" dirty="0">
                <a:solidFill>
                  <a:srgbClr val="FFD666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FFD666"/>
                </a:solidFill>
                <a:latin typeface="Aptos"/>
              </a:rPr>
              <a:t>sắp</a:t>
            </a:r>
            <a:r>
              <a:rPr sz="2600" b="1" dirty="0">
                <a:solidFill>
                  <a:srgbClr val="FFD666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FFD666"/>
                </a:solidFill>
                <a:latin typeface="Aptos"/>
              </a:rPr>
              <a:t>xếp</a:t>
            </a:r>
            <a:r>
              <a:rPr sz="2600" b="1" dirty="0">
                <a:solidFill>
                  <a:srgbClr val="FFD666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FFD666"/>
                </a:solidFill>
                <a:latin typeface="Aptos"/>
              </a:rPr>
              <a:t>hợp</a:t>
            </a:r>
            <a:r>
              <a:rPr sz="2600" b="1" dirty="0">
                <a:solidFill>
                  <a:srgbClr val="FFD666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FFD666"/>
                </a:solidFill>
                <a:latin typeface="Aptos"/>
              </a:rPr>
              <a:t>lý</a:t>
            </a:r>
            <a:endParaRPr sz="2600" b="1" dirty="0">
              <a:solidFill>
                <a:srgbClr val="FFD666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486400" cy="521208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5257800" cy="521208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98064" y="1417320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63E6BE"/>
                </a:solidFill>
                <a:latin typeface="Aptos"/>
              </a:rPr>
              <a:t>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90560"/>
            <a:ext cx="46634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50" b="1">
                <a:solidFill>
                  <a:srgbClr val="FFD666"/>
                </a:solidFill>
                <a:latin typeface="Aptos"/>
              </a:rPr>
              <a:t>Algorithm: Merge 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902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10">
                <a:solidFill>
                  <a:srgbClr val="F3F5F7"/>
                </a:solidFill>
                <a:latin typeface="Aptos"/>
              </a:defRPr>
            </a:pPr>
            <a:r>
              <a:rPr dirty="0" err="1"/>
              <a:t>Sắp</a:t>
            </a:r>
            <a:r>
              <a:rPr dirty="0"/>
              <a:t> </a:t>
            </a:r>
            <a:r>
              <a:rPr dirty="0" err="1"/>
              <a:t>xếp</a:t>
            </a:r>
            <a:r>
              <a:rPr dirty="0"/>
              <a:t> </a:t>
            </a:r>
            <a:r>
              <a:rPr dirty="0" err="1"/>
              <a:t>ổn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2 </a:t>
            </a:r>
            <a:r>
              <a:rPr dirty="0" err="1"/>
              <a:t>bước</a:t>
            </a:r>
            <a:r>
              <a:rPr dirty="0"/>
              <a:t>: name </a:t>
            </a:r>
            <a:r>
              <a:rPr dirty="0" err="1"/>
              <a:t>rồi</a:t>
            </a:r>
            <a:r>
              <a:rPr dirty="0"/>
              <a:t> type.</a:t>
            </a:r>
          </a:p>
          <a:p>
            <a:pPr>
              <a:spcAft>
                <a:spcPts val="600"/>
              </a:spcAft>
              <a:defRPr sz="1510">
                <a:solidFill>
                  <a:srgbClr val="F3F5F7"/>
                </a:solidFill>
                <a:latin typeface="Aptos"/>
              </a:defRPr>
            </a:pPr>
            <a:r>
              <a:rPr dirty="0" err="1"/>
              <a:t>Nhờ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stable,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type </a:t>
            </a:r>
            <a:r>
              <a:rPr dirty="0" err="1"/>
              <a:t>các</a:t>
            </a:r>
            <a:r>
              <a:rPr dirty="0"/>
              <a:t> item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giữ</a:t>
            </a:r>
            <a:r>
              <a:rPr dirty="0"/>
              <a:t> </a:t>
            </a:r>
            <a:r>
              <a:rPr dirty="0" err="1"/>
              <a:t>thứ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A–Z.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97683"/>
            <a:ext cx="4023360" cy="201168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1024128" y="2976347"/>
            <a:ext cx="1941750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F3F5F7"/>
                </a:solidFill>
                <a:latin typeface="Aptos"/>
              </a:rPr>
              <a:t>base: Gin, Rum, Vodka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72003"/>
            <a:ext cx="4023360" cy="201168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024128" y="3244571"/>
            <a:ext cx="2487540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F3F5F7"/>
                </a:solidFill>
                <a:latin typeface="Aptos"/>
              </a:rPr>
              <a:t>mixer: Lime Juice, Soda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46323"/>
            <a:ext cx="4023360" cy="201168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1024128" y="3518891"/>
            <a:ext cx="2448491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 dirty="0">
                <a:solidFill>
                  <a:srgbClr val="F3F5F7"/>
                </a:solidFill>
                <a:latin typeface="Aptos"/>
              </a:rPr>
              <a:t>modifier: Campari, Vermouth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417320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 dirty="0">
                <a:solidFill>
                  <a:srgbClr val="FFD666"/>
                </a:solidFill>
                <a:latin typeface="Aptos"/>
              </a:rPr>
              <a:t>LEADERBOARD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1737360"/>
            <a:ext cx="4206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50" b="1">
                <a:solidFill>
                  <a:srgbClr val="FFD666"/>
                </a:solidFill>
                <a:latin typeface="Aptos"/>
              </a:rPr>
              <a:t>Algorithm: Quick Sort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05740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10">
                <a:solidFill>
                  <a:srgbClr val="F3F5F7"/>
                </a:solidFill>
                <a:latin typeface="Aptos"/>
              </a:defRPr>
            </a:pPr>
            <a:r>
              <a:t>Bảng điểm được sắp giảm dần theo score để xếp hạng ngay sau khi ván chơi kết thúc.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5163FF9-6F18-067E-42F9-A67722957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798" y="2676080"/>
            <a:ext cx="2272923" cy="359833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897C35B-DA06-432D-79A9-7274DDB90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301" y="3930371"/>
            <a:ext cx="1532517" cy="23088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D666"/>
                </a:solidFill>
                <a:latin typeface="Aptos"/>
              </a:rPr>
              <a:t>8. Kiến trúc code: tách gameplay, algorithm và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0972800" cy="3931920"/>
          </a:xfrm>
          <a:prstGeom prst="roundRect">
            <a:avLst/>
          </a:prstGeom>
          <a:solidFill>
            <a:srgbClr val="222834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2779776"/>
            <a:ext cx="1554480" cy="91440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871216"/>
            <a:ext cx="133502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20" b="1">
                <a:solidFill>
                  <a:srgbClr val="5EA8FF"/>
                </a:solidFill>
                <a:latin typeface="Aptos"/>
              </a:rPr>
              <a:t>main.py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163824"/>
            <a:ext cx="1335024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10" b="0">
                <a:solidFill>
                  <a:srgbClr val="F3F5F7"/>
                </a:solidFill>
                <a:latin typeface="Aptos"/>
              </a:rPr>
              <a:t>Game loop
Event / Update / Draw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459736"/>
            <a:ext cx="1920240" cy="150876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63E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8648" y="2551176"/>
            <a:ext cx="170078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20" b="1">
                <a:solidFill>
                  <a:srgbClr val="63E6BE"/>
                </a:solidFill>
                <a:latin typeface="Aptos"/>
              </a:rPr>
              <a:t>game_logic.py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843784"/>
            <a:ext cx="1700784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10" b="0">
                <a:solidFill>
                  <a:srgbClr val="F3F5F7"/>
                </a:solidFill>
                <a:latin typeface="Aptos"/>
              </a:rPr>
              <a:t>GameState
CustomerManager
MixingEngine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322576"/>
            <a:ext cx="1920240" cy="178308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FFD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67528" y="2414016"/>
            <a:ext cx="170078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20" b="1">
                <a:solidFill>
                  <a:srgbClr val="FFD666"/>
                </a:solidFill>
                <a:latin typeface="Aptos"/>
              </a:rPr>
              <a:t>algorithms.py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706624"/>
            <a:ext cx="1700784" cy="1325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10" b="0">
                <a:solidFill>
                  <a:srgbClr val="F3F5F7"/>
                </a:solidFill>
                <a:latin typeface="Aptos"/>
              </a:rPr>
              <a:t>MinHeap
Queue
Trie
Inverted Index
Sorts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2459736"/>
            <a:ext cx="1920240" cy="150876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BA6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7" y="2551176"/>
            <a:ext cx="170078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20" b="1">
                <a:solidFill>
                  <a:srgbClr val="BA68C8"/>
                </a:solidFill>
                <a:latin typeface="Aptos"/>
              </a:rPr>
              <a:t>settings.py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7" y="2843784"/>
            <a:ext cx="1700784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10" b="0">
                <a:solidFill>
                  <a:srgbClr val="F3F5F7"/>
                </a:solidFill>
                <a:latin typeface="Aptos"/>
              </a:rPr>
              <a:t>Constants
Ingredients
Recipes
Mood dialogues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459736"/>
            <a:ext cx="1234440" cy="1508760"/>
          </a:xfrm>
          <a:prstGeom prst="roundRect">
            <a:avLst/>
          </a:prstGeom>
          <a:solidFill>
            <a:srgbClr val="2C3240"/>
          </a:solidFill>
          <a:ln w="15240">
            <a:solidFill>
              <a:srgbClr val="5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39528" y="2551176"/>
            <a:ext cx="101498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20" b="1">
                <a:solidFill>
                  <a:srgbClr val="5EA8FF"/>
                </a:solidFill>
                <a:latin typeface="Aptos"/>
              </a:rPr>
              <a:t>ui.py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2843784"/>
            <a:ext cx="1014984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10" b="0">
                <a:solidFill>
                  <a:srgbClr val="F3F5F7"/>
                </a:solidFill>
                <a:latin typeface="Aptos"/>
              </a:rPr>
              <a:t>Renderer
SearchBar
Inventory
Shaker UI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23160" y="3236976"/>
            <a:ext cx="365760" cy="0"/>
          </a:xfrm>
          <a:prstGeom prst="line">
            <a:avLst/>
          </a:prstGeom>
          <a:ln w="25400">
            <a:solidFill>
              <a:srgbClr val="A8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09160" y="3236976"/>
            <a:ext cx="548640" cy="0"/>
          </a:xfrm>
          <a:prstGeom prst="line">
            <a:avLst/>
          </a:prstGeom>
          <a:ln w="25400">
            <a:solidFill>
              <a:srgbClr val="A8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178040" y="3236976"/>
            <a:ext cx="548639" cy="0"/>
          </a:xfrm>
          <a:prstGeom prst="line">
            <a:avLst/>
          </a:prstGeom>
          <a:ln w="25400">
            <a:solidFill>
              <a:srgbClr val="A8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46920" y="3236976"/>
            <a:ext cx="182880" cy="0"/>
          </a:xfrm>
          <a:prstGeom prst="line">
            <a:avLst/>
          </a:prstGeom>
          <a:ln w="25400">
            <a:solidFill>
              <a:srgbClr val="A8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1065" y="1843950"/>
            <a:ext cx="10709870" cy="3170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0" b="1" dirty="0">
                <a:solidFill>
                  <a:srgbClr val="63E6BE"/>
                </a:solidFill>
                <a:latin typeface="Aptos"/>
              </a:rPr>
              <a:t>Thank you</a:t>
            </a:r>
            <a:r>
              <a:rPr lang="en-US" sz="10000" b="1" dirty="0">
                <a:solidFill>
                  <a:srgbClr val="63E6BE"/>
                </a:solidFill>
                <a:latin typeface="Aptos"/>
              </a:rPr>
              <a:t> for listening</a:t>
            </a:r>
            <a:r>
              <a:rPr sz="10000" b="1" dirty="0">
                <a:solidFill>
                  <a:srgbClr val="63E6BE"/>
                </a:solidFill>
                <a:latin typeface="Aptos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A8B2C0"/>
                </a:solidFill>
                <a:latin typeface="Aptos"/>
              </a:rPr>
              <a:t>Bar Rush: The Mixologist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1071</Words>
  <Application>Microsoft Office PowerPoint</Application>
  <PresentationFormat>Widescreen</PresentationFormat>
  <Paragraphs>320</Paragraphs>
  <Slides>14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Hữu Tuấn Minh</cp:lastModifiedBy>
  <cp:revision>6</cp:revision>
  <dcterms:created xsi:type="dcterms:W3CDTF">2013-01-27T09:14:16Z</dcterms:created>
  <dcterms:modified xsi:type="dcterms:W3CDTF">2026-05-18T20:53:24Z</dcterms:modified>
  <cp:category/>
</cp:coreProperties>
</file>